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60" r:id="rId5"/>
    <p:sldId id="264" r:id="rId6"/>
    <p:sldId id="262" r:id="rId7"/>
    <p:sldId id="283" r:id="rId8"/>
    <p:sldId id="298" r:id="rId9"/>
    <p:sldId id="299" r:id="rId10"/>
    <p:sldId id="300" r:id="rId11"/>
    <p:sldId id="301" r:id="rId12"/>
    <p:sldId id="302" r:id="rId13"/>
    <p:sldId id="290" r:id="rId14"/>
    <p:sldId id="292" r:id="rId15"/>
    <p:sldId id="297" r:id="rId16"/>
    <p:sldId id="293" r:id="rId17"/>
    <p:sldId id="294" r:id="rId18"/>
    <p:sldId id="295" r:id="rId19"/>
    <p:sldId id="268" r:id="rId20"/>
    <p:sldId id="267" r:id="rId21"/>
    <p:sldId id="266" r:id="rId22"/>
    <p:sldId id="259" r:id="rId23"/>
    <p:sldId id="277" r:id="rId24"/>
    <p:sldId id="274" r:id="rId25"/>
    <p:sldId id="284" r:id="rId26"/>
    <p:sldId id="282" r:id="rId27"/>
    <p:sldId id="287" r:id="rId28"/>
    <p:sldId id="288" r:id="rId29"/>
    <p:sldId id="296" r:id="rId30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CEE2"/>
    <a:srgbClr val="0097B2"/>
    <a:srgbClr val="005FAB"/>
    <a:srgbClr val="43B6C8"/>
    <a:srgbClr val="FE90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80"/>
    <p:restoredTop sz="95361"/>
  </p:normalViewPr>
  <p:slideViewPr>
    <p:cSldViewPr snapToGrid="0">
      <p:cViewPr varScale="1">
        <p:scale>
          <a:sx n="210" d="100"/>
          <a:sy n="210" d="100"/>
        </p:scale>
        <p:origin x="21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D5DD47-E41B-9446-B14D-35BCD8A3016C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8DA0959C-5161-794E-B266-B1B9957BB9DB}">
      <dgm:prSet/>
      <dgm:spPr>
        <a:solidFill>
          <a:srgbClr val="005FAB"/>
        </a:solidFill>
      </dgm:spPr>
      <dgm:t>
        <a:bodyPr/>
        <a:lstStyle/>
        <a:p>
          <a:r>
            <a:rPr lang="en-US" b="0" i="0" baseline="0" dirty="0"/>
            <a:t>Collision</a:t>
          </a:r>
          <a:endParaRPr lang="de-DE" dirty="0"/>
        </a:p>
      </dgm:t>
    </dgm:pt>
    <dgm:pt modelId="{C6977F8C-6B4F-084C-B454-24BAED456C95}" type="parTrans" cxnId="{E8886630-EEEA-2642-B5C6-2F1A90313FB0}">
      <dgm:prSet/>
      <dgm:spPr/>
      <dgm:t>
        <a:bodyPr/>
        <a:lstStyle/>
        <a:p>
          <a:endParaRPr lang="de-DE"/>
        </a:p>
      </dgm:t>
    </dgm:pt>
    <dgm:pt modelId="{291BA68D-8E39-6F42-8045-61479DE6BB0E}" type="sibTrans" cxnId="{E8886630-EEEA-2642-B5C6-2F1A90313FB0}">
      <dgm:prSet/>
      <dgm:spPr/>
      <dgm:t>
        <a:bodyPr/>
        <a:lstStyle/>
        <a:p>
          <a:endParaRPr lang="de-DE"/>
        </a:p>
      </dgm:t>
    </dgm:pt>
    <dgm:pt modelId="{0DA9EC3F-8BB5-AD4A-A750-08910E44E1B0}">
      <dgm:prSet custT="1"/>
      <dgm:spPr/>
      <dgm:t>
        <a:bodyPr/>
        <a:lstStyle/>
        <a:p>
          <a:r>
            <a:rPr lang="en-US" sz="2000" b="0" i="0" baseline="0" dirty="0"/>
            <a:t>When two particles meet head-on they change directions by 90 degrees</a:t>
          </a:r>
          <a:endParaRPr lang="de-DE" sz="2000" dirty="0"/>
        </a:p>
      </dgm:t>
    </dgm:pt>
    <dgm:pt modelId="{C1093BAB-2FE7-AB4E-8841-C2BDCD1CA1D5}" type="parTrans" cxnId="{EDC8FFAF-3AFA-1A40-BA04-9E17A9F6A6E7}">
      <dgm:prSet/>
      <dgm:spPr/>
      <dgm:t>
        <a:bodyPr/>
        <a:lstStyle/>
        <a:p>
          <a:endParaRPr lang="de-DE"/>
        </a:p>
      </dgm:t>
    </dgm:pt>
    <dgm:pt modelId="{6590C3B1-B0AE-B148-9BE4-59E6E810E5DE}" type="sibTrans" cxnId="{EDC8FFAF-3AFA-1A40-BA04-9E17A9F6A6E7}">
      <dgm:prSet/>
      <dgm:spPr/>
      <dgm:t>
        <a:bodyPr/>
        <a:lstStyle/>
        <a:p>
          <a:endParaRPr lang="de-DE"/>
        </a:p>
      </dgm:t>
    </dgm:pt>
    <dgm:pt modelId="{9967C269-CC87-E442-AA16-E948AC97C691}">
      <dgm:prSet/>
      <dgm:spPr>
        <a:solidFill>
          <a:srgbClr val="0097B2"/>
        </a:solidFill>
      </dgm:spPr>
      <dgm:t>
        <a:bodyPr/>
        <a:lstStyle/>
        <a:p>
          <a:r>
            <a:rPr lang="en-US" b="0" i="0" baseline="0" dirty="0"/>
            <a:t>Propagation</a:t>
          </a:r>
          <a:endParaRPr lang="de-DE" dirty="0"/>
        </a:p>
      </dgm:t>
    </dgm:pt>
    <dgm:pt modelId="{8EF14A72-AFEF-6B41-9213-373437F5F456}" type="parTrans" cxnId="{DB8E5D01-9639-2847-B8C2-AD79D3D504F5}">
      <dgm:prSet/>
      <dgm:spPr/>
      <dgm:t>
        <a:bodyPr/>
        <a:lstStyle/>
        <a:p>
          <a:endParaRPr lang="de-DE"/>
        </a:p>
      </dgm:t>
    </dgm:pt>
    <dgm:pt modelId="{6D2447DA-6CE4-D544-AFB5-482F8CAD994C}" type="sibTrans" cxnId="{DB8E5D01-9639-2847-B8C2-AD79D3D504F5}">
      <dgm:prSet/>
      <dgm:spPr/>
      <dgm:t>
        <a:bodyPr/>
        <a:lstStyle/>
        <a:p>
          <a:endParaRPr lang="de-DE"/>
        </a:p>
      </dgm:t>
    </dgm:pt>
    <dgm:pt modelId="{ADC96587-92C8-4A46-9BC1-E2375F8B0BF8}">
      <dgm:prSet custT="1"/>
      <dgm:spPr/>
      <dgm:t>
        <a:bodyPr/>
        <a:lstStyle/>
        <a:p>
          <a:r>
            <a:rPr lang="en-US" sz="2000" b="0" i="0" baseline="0" dirty="0"/>
            <a:t>Particles move to the adjacent cell in their current direction</a:t>
          </a:r>
          <a:endParaRPr lang="de-DE" sz="2000" dirty="0"/>
        </a:p>
      </dgm:t>
    </dgm:pt>
    <dgm:pt modelId="{CCDF6ED9-D468-9E44-92C1-24E84BF47EB4}" type="parTrans" cxnId="{56E74FC2-910B-624F-BD71-424ABDDCCD6E}">
      <dgm:prSet/>
      <dgm:spPr/>
      <dgm:t>
        <a:bodyPr/>
        <a:lstStyle/>
        <a:p>
          <a:endParaRPr lang="de-DE"/>
        </a:p>
      </dgm:t>
    </dgm:pt>
    <dgm:pt modelId="{899C713F-D134-A54A-9481-53D7A7059988}" type="sibTrans" cxnId="{56E74FC2-910B-624F-BD71-424ABDDCCD6E}">
      <dgm:prSet/>
      <dgm:spPr/>
      <dgm:t>
        <a:bodyPr/>
        <a:lstStyle/>
        <a:p>
          <a:endParaRPr lang="de-DE"/>
        </a:p>
      </dgm:t>
    </dgm:pt>
    <dgm:pt modelId="{230B299D-CB58-3A4B-852F-0A50D729FDBC}">
      <dgm:prSet/>
      <dgm:spPr>
        <a:solidFill>
          <a:srgbClr val="43B6C8"/>
        </a:solidFill>
      </dgm:spPr>
      <dgm:t>
        <a:bodyPr/>
        <a:lstStyle/>
        <a:p>
          <a:r>
            <a:rPr lang="en-US" b="0" i="0" baseline="0"/>
            <a:t>Reflection</a:t>
          </a:r>
          <a:endParaRPr lang="de-DE"/>
        </a:p>
      </dgm:t>
    </dgm:pt>
    <dgm:pt modelId="{B7FDFF19-9961-3942-BDC1-81F81C89370E}" type="parTrans" cxnId="{9E221BDC-BD92-144F-97C9-C8BE8F7C653D}">
      <dgm:prSet/>
      <dgm:spPr/>
      <dgm:t>
        <a:bodyPr/>
        <a:lstStyle/>
        <a:p>
          <a:endParaRPr lang="de-DE"/>
        </a:p>
      </dgm:t>
    </dgm:pt>
    <dgm:pt modelId="{36AFED35-F71F-5D4B-A2DB-0F4C3D3277A6}" type="sibTrans" cxnId="{9E221BDC-BD92-144F-97C9-C8BE8F7C653D}">
      <dgm:prSet/>
      <dgm:spPr/>
      <dgm:t>
        <a:bodyPr/>
        <a:lstStyle/>
        <a:p>
          <a:endParaRPr lang="de-DE"/>
        </a:p>
      </dgm:t>
    </dgm:pt>
    <dgm:pt modelId="{E7B9EF63-0B73-9540-8D2A-57B363FBA2FD}">
      <dgm:prSet custT="1"/>
      <dgm:spPr/>
      <dgm:t>
        <a:bodyPr/>
        <a:lstStyle/>
        <a:p>
          <a:r>
            <a:rPr lang="en-US" sz="2000" b="0" i="0" baseline="0" dirty="0"/>
            <a:t>Particles that hit a wall are reflected by changing directions by 180 degrees</a:t>
          </a:r>
          <a:endParaRPr lang="de-DE" sz="2000" dirty="0"/>
        </a:p>
      </dgm:t>
    </dgm:pt>
    <dgm:pt modelId="{9E4D8090-2213-2A4F-80F1-B5B36A995CFD}" type="parTrans" cxnId="{B32961B9-A755-904E-87DC-CEFD74F4CD4D}">
      <dgm:prSet/>
      <dgm:spPr/>
      <dgm:t>
        <a:bodyPr/>
        <a:lstStyle/>
        <a:p>
          <a:endParaRPr lang="de-DE"/>
        </a:p>
      </dgm:t>
    </dgm:pt>
    <dgm:pt modelId="{BF6D70A0-4371-A645-A03F-28B290848D69}" type="sibTrans" cxnId="{B32961B9-A755-904E-87DC-CEFD74F4CD4D}">
      <dgm:prSet/>
      <dgm:spPr/>
      <dgm:t>
        <a:bodyPr/>
        <a:lstStyle/>
        <a:p>
          <a:endParaRPr lang="de-DE"/>
        </a:p>
      </dgm:t>
    </dgm:pt>
    <dgm:pt modelId="{3DCE78BE-6C66-9441-A141-0744FE2ED961}" type="pres">
      <dgm:prSet presAssocID="{2CD5DD47-E41B-9446-B14D-35BCD8A3016C}" presName="linearFlow" presStyleCnt="0">
        <dgm:presLayoutVars>
          <dgm:dir/>
          <dgm:animLvl val="lvl"/>
          <dgm:resizeHandles val="exact"/>
        </dgm:presLayoutVars>
      </dgm:prSet>
      <dgm:spPr/>
    </dgm:pt>
    <dgm:pt modelId="{A874F203-3600-6347-A9B1-4A3AF063F5C1}" type="pres">
      <dgm:prSet presAssocID="{8DA0959C-5161-794E-B266-B1B9957BB9DB}" presName="composite" presStyleCnt="0"/>
      <dgm:spPr/>
    </dgm:pt>
    <dgm:pt modelId="{BC3AA860-09E6-6F43-AC7D-CB7440BBEF39}" type="pres">
      <dgm:prSet presAssocID="{8DA0959C-5161-794E-B266-B1B9957BB9DB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512A03D1-666B-7A49-AEC1-C6BDB5DF720C}" type="pres">
      <dgm:prSet presAssocID="{8DA0959C-5161-794E-B266-B1B9957BB9DB}" presName="descendantText" presStyleLbl="alignAcc1" presStyleIdx="0" presStyleCnt="3">
        <dgm:presLayoutVars>
          <dgm:bulletEnabled val="1"/>
        </dgm:presLayoutVars>
      </dgm:prSet>
      <dgm:spPr/>
    </dgm:pt>
    <dgm:pt modelId="{742823CD-9F25-454F-8487-C3C86DC8A399}" type="pres">
      <dgm:prSet presAssocID="{291BA68D-8E39-6F42-8045-61479DE6BB0E}" presName="sp" presStyleCnt="0"/>
      <dgm:spPr/>
    </dgm:pt>
    <dgm:pt modelId="{F2EF108B-4592-3943-9F40-BB249BE7E155}" type="pres">
      <dgm:prSet presAssocID="{9967C269-CC87-E442-AA16-E948AC97C691}" presName="composite" presStyleCnt="0"/>
      <dgm:spPr/>
    </dgm:pt>
    <dgm:pt modelId="{CF65164D-FE83-B348-A231-296EE3CFCB80}" type="pres">
      <dgm:prSet presAssocID="{9967C269-CC87-E442-AA16-E948AC97C691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7EACE234-2CEA-384E-8BC1-F0B10957A67F}" type="pres">
      <dgm:prSet presAssocID="{9967C269-CC87-E442-AA16-E948AC97C691}" presName="descendantText" presStyleLbl="alignAcc1" presStyleIdx="1" presStyleCnt="3">
        <dgm:presLayoutVars>
          <dgm:bulletEnabled val="1"/>
        </dgm:presLayoutVars>
      </dgm:prSet>
      <dgm:spPr/>
    </dgm:pt>
    <dgm:pt modelId="{58143C2B-10C6-E741-BA6C-1149AC04087F}" type="pres">
      <dgm:prSet presAssocID="{6D2447DA-6CE4-D544-AFB5-482F8CAD994C}" presName="sp" presStyleCnt="0"/>
      <dgm:spPr/>
    </dgm:pt>
    <dgm:pt modelId="{6F0D81E4-A6A8-C94A-BB49-C4F740AD31D6}" type="pres">
      <dgm:prSet presAssocID="{230B299D-CB58-3A4B-852F-0A50D729FDBC}" presName="composite" presStyleCnt="0"/>
      <dgm:spPr/>
    </dgm:pt>
    <dgm:pt modelId="{4E8F9C53-BF10-D140-AF3C-516492DF280C}" type="pres">
      <dgm:prSet presAssocID="{230B299D-CB58-3A4B-852F-0A50D729FDBC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2E2BB867-46A9-2542-975D-93FE2176DA7E}" type="pres">
      <dgm:prSet presAssocID="{230B299D-CB58-3A4B-852F-0A50D729FDBC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DB8E5D01-9639-2847-B8C2-AD79D3D504F5}" srcId="{2CD5DD47-E41B-9446-B14D-35BCD8A3016C}" destId="{9967C269-CC87-E442-AA16-E948AC97C691}" srcOrd="1" destOrd="0" parTransId="{8EF14A72-AFEF-6B41-9213-373437F5F456}" sibTransId="{6D2447DA-6CE4-D544-AFB5-482F8CAD994C}"/>
    <dgm:cxn modelId="{E8886630-EEEA-2642-B5C6-2F1A90313FB0}" srcId="{2CD5DD47-E41B-9446-B14D-35BCD8A3016C}" destId="{8DA0959C-5161-794E-B266-B1B9957BB9DB}" srcOrd="0" destOrd="0" parTransId="{C6977F8C-6B4F-084C-B454-24BAED456C95}" sibTransId="{291BA68D-8E39-6F42-8045-61479DE6BB0E}"/>
    <dgm:cxn modelId="{3835A243-B894-A94E-A013-3305F126FFED}" type="presOf" srcId="{230B299D-CB58-3A4B-852F-0A50D729FDBC}" destId="{4E8F9C53-BF10-D140-AF3C-516492DF280C}" srcOrd="0" destOrd="0" presId="urn:microsoft.com/office/officeart/2005/8/layout/chevron2"/>
    <dgm:cxn modelId="{95D84A5D-0D2F-F64E-B985-20A0860D861C}" type="presOf" srcId="{ADC96587-92C8-4A46-9BC1-E2375F8B0BF8}" destId="{7EACE234-2CEA-384E-8BC1-F0B10957A67F}" srcOrd="0" destOrd="0" presId="urn:microsoft.com/office/officeart/2005/8/layout/chevron2"/>
    <dgm:cxn modelId="{0146AC61-F0E7-9A41-93AD-FEB752C72A6B}" type="presOf" srcId="{8DA0959C-5161-794E-B266-B1B9957BB9DB}" destId="{BC3AA860-09E6-6F43-AC7D-CB7440BBEF39}" srcOrd="0" destOrd="0" presId="urn:microsoft.com/office/officeart/2005/8/layout/chevron2"/>
    <dgm:cxn modelId="{D8458DAD-523E-FE49-928F-E5F84A87CCDA}" type="presOf" srcId="{9967C269-CC87-E442-AA16-E948AC97C691}" destId="{CF65164D-FE83-B348-A231-296EE3CFCB80}" srcOrd="0" destOrd="0" presId="urn:microsoft.com/office/officeart/2005/8/layout/chevron2"/>
    <dgm:cxn modelId="{EDC8FFAF-3AFA-1A40-BA04-9E17A9F6A6E7}" srcId="{8DA0959C-5161-794E-B266-B1B9957BB9DB}" destId="{0DA9EC3F-8BB5-AD4A-A750-08910E44E1B0}" srcOrd="0" destOrd="0" parTransId="{C1093BAB-2FE7-AB4E-8841-C2BDCD1CA1D5}" sibTransId="{6590C3B1-B0AE-B148-9BE4-59E6E810E5DE}"/>
    <dgm:cxn modelId="{877FF7B3-CABF-C046-84D9-B502465D7A6B}" type="presOf" srcId="{2CD5DD47-E41B-9446-B14D-35BCD8A3016C}" destId="{3DCE78BE-6C66-9441-A141-0744FE2ED961}" srcOrd="0" destOrd="0" presId="urn:microsoft.com/office/officeart/2005/8/layout/chevron2"/>
    <dgm:cxn modelId="{B32961B9-A755-904E-87DC-CEFD74F4CD4D}" srcId="{230B299D-CB58-3A4B-852F-0A50D729FDBC}" destId="{E7B9EF63-0B73-9540-8D2A-57B363FBA2FD}" srcOrd="0" destOrd="0" parTransId="{9E4D8090-2213-2A4F-80F1-B5B36A995CFD}" sibTransId="{BF6D70A0-4371-A645-A03F-28B290848D69}"/>
    <dgm:cxn modelId="{56E74FC2-910B-624F-BD71-424ABDDCCD6E}" srcId="{9967C269-CC87-E442-AA16-E948AC97C691}" destId="{ADC96587-92C8-4A46-9BC1-E2375F8B0BF8}" srcOrd="0" destOrd="0" parTransId="{CCDF6ED9-D468-9E44-92C1-24E84BF47EB4}" sibTransId="{899C713F-D134-A54A-9481-53D7A7059988}"/>
    <dgm:cxn modelId="{CE92B0C3-4B6F-A547-8166-4384432A95DB}" type="presOf" srcId="{E7B9EF63-0B73-9540-8D2A-57B363FBA2FD}" destId="{2E2BB867-46A9-2542-975D-93FE2176DA7E}" srcOrd="0" destOrd="0" presId="urn:microsoft.com/office/officeart/2005/8/layout/chevron2"/>
    <dgm:cxn modelId="{9E221BDC-BD92-144F-97C9-C8BE8F7C653D}" srcId="{2CD5DD47-E41B-9446-B14D-35BCD8A3016C}" destId="{230B299D-CB58-3A4B-852F-0A50D729FDBC}" srcOrd="2" destOrd="0" parTransId="{B7FDFF19-9961-3942-BDC1-81F81C89370E}" sibTransId="{36AFED35-F71F-5D4B-A2DB-0F4C3D3277A6}"/>
    <dgm:cxn modelId="{CDC51DEE-7A06-4E40-8530-22E441B2A7B8}" type="presOf" srcId="{0DA9EC3F-8BB5-AD4A-A750-08910E44E1B0}" destId="{512A03D1-666B-7A49-AEC1-C6BDB5DF720C}" srcOrd="0" destOrd="0" presId="urn:microsoft.com/office/officeart/2005/8/layout/chevron2"/>
    <dgm:cxn modelId="{1AD751E9-0699-1941-85F9-53B610AD2539}" type="presParOf" srcId="{3DCE78BE-6C66-9441-A141-0744FE2ED961}" destId="{A874F203-3600-6347-A9B1-4A3AF063F5C1}" srcOrd="0" destOrd="0" presId="urn:microsoft.com/office/officeart/2005/8/layout/chevron2"/>
    <dgm:cxn modelId="{CD3930F1-1B09-BD41-8E61-FAEED6AB5801}" type="presParOf" srcId="{A874F203-3600-6347-A9B1-4A3AF063F5C1}" destId="{BC3AA860-09E6-6F43-AC7D-CB7440BBEF39}" srcOrd="0" destOrd="0" presId="urn:microsoft.com/office/officeart/2005/8/layout/chevron2"/>
    <dgm:cxn modelId="{09926AB5-2F94-D24F-8E23-C45FE1312D55}" type="presParOf" srcId="{A874F203-3600-6347-A9B1-4A3AF063F5C1}" destId="{512A03D1-666B-7A49-AEC1-C6BDB5DF720C}" srcOrd="1" destOrd="0" presId="urn:microsoft.com/office/officeart/2005/8/layout/chevron2"/>
    <dgm:cxn modelId="{5BC5F5D2-147D-2A4A-8214-A21DD6EE7928}" type="presParOf" srcId="{3DCE78BE-6C66-9441-A141-0744FE2ED961}" destId="{742823CD-9F25-454F-8487-C3C86DC8A399}" srcOrd="1" destOrd="0" presId="urn:microsoft.com/office/officeart/2005/8/layout/chevron2"/>
    <dgm:cxn modelId="{686621A1-D4A5-9441-9ABB-48380437CA01}" type="presParOf" srcId="{3DCE78BE-6C66-9441-A141-0744FE2ED961}" destId="{F2EF108B-4592-3943-9F40-BB249BE7E155}" srcOrd="2" destOrd="0" presId="urn:microsoft.com/office/officeart/2005/8/layout/chevron2"/>
    <dgm:cxn modelId="{9CC65C4C-A534-3C48-ADAD-47241CAD24D7}" type="presParOf" srcId="{F2EF108B-4592-3943-9F40-BB249BE7E155}" destId="{CF65164D-FE83-B348-A231-296EE3CFCB80}" srcOrd="0" destOrd="0" presId="urn:microsoft.com/office/officeart/2005/8/layout/chevron2"/>
    <dgm:cxn modelId="{28E91507-6A0C-1641-A5D7-4E34DB0D2553}" type="presParOf" srcId="{F2EF108B-4592-3943-9F40-BB249BE7E155}" destId="{7EACE234-2CEA-384E-8BC1-F0B10957A67F}" srcOrd="1" destOrd="0" presId="urn:microsoft.com/office/officeart/2005/8/layout/chevron2"/>
    <dgm:cxn modelId="{277289F7-2E7F-7E4F-ABC8-5E4517C3F5BA}" type="presParOf" srcId="{3DCE78BE-6C66-9441-A141-0744FE2ED961}" destId="{58143C2B-10C6-E741-BA6C-1149AC04087F}" srcOrd="3" destOrd="0" presId="urn:microsoft.com/office/officeart/2005/8/layout/chevron2"/>
    <dgm:cxn modelId="{3473C17F-D004-4B4D-B77B-78B4CB24E659}" type="presParOf" srcId="{3DCE78BE-6C66-9441-A141-0744FE2ED961}" destId="{6F0D81E4-A6A8-C94A-BB49-C4F740AD31D6}" srcOrd="4" destOrd="0" presId="urn:microsoft.com/office/officeart/2005/8/layout/chevron2"/>
    <dgm:cxn modelId="{0DE903EE-64CE-494E-92D9-05248F0D445D}" type="presParOf" srcId="{6F0D81E4-A6A8-C94A-BB49-C4F740AD31D6}" destId="{4E8F9C53-BF10-D140-AF3C-516492DF280C}" srcOrd="0" destOrd="0" presId="urn:microsoft.com/office/officeart/2005/8/layout/chevron2"/>
    <dgm:cxn modelId="{415CB479-0DA8-0A4E-8A7C-C2284867596E}" type="presParOf" srcId="{6F0D81E4-A6A8-C94A-BB49-C4F740AD31D6}" destId="{2E2BB867-46A9-2542-975D-93FE2176DA7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3AA860-09E6-6F43-AC7D-CB7440BBEF39}">
      <dsp:nvSpPr>
        <dsp:cNvPr id="0" name=""/>
        <dsp:cNvSpPr/>
      </dsp:nvSpPr>
      <dsp:spPr>
        <a:xfrm rot="5400000">
          <a:off x="-418722" y="422766"/>
          <a:ext cx="2791484" cy="1954038"/>
        </a:xfrm>
        <a:prstGeom prst="chevron">
          <a:avLst/>
        </a:prstGeom>
        <a:solidFill>
          <a:srgbClr val="005FAB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 dirty="0"/>
            <a:t>Collision</a:t>
          </a:r>
          <a:endParaRPr lang="de-DE" sz="2800" kern="1200" dirty="0"/>
        </a:p>
      </dsp:txBody>
      <dsp:txXfrm rot="-5400000">
        <a:off x="1" y="981062"/>
        <a:ext cx="1954038" cy="837446"/>
      </dsp:txXfrm>
    </dsp:sp>
    <dsp:sp modelId="{512A03D1-666B-7A49-AEC1-C6BDB5DF720C}">
      <dsp:nvSpPr>
        <dsp:cNvPr id="0" name=""/>
        <dsp:cNvSpPr/>
      </dsp:nvSpPr>
      <dsp:spPr>
        <a:xfrm rot="5400000">
          <a:off x="2595838" y="-637755"/>
          <a:ext cx="1814464" cy="309806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baseline="0" dirty="0"/>
            <a:t>When two particles meet head-on they change directions by 90 degrees</a:t>
          </a:r>
          <a:endParaRPr lang="de-DE" sz="2000" kern="1200" dirty="0"/>
        </a:p>
      </dsp:txBody>
      <dsp:txXfrm rot="-5400000">
        <a:off x="1954039" y="92619"/>
        <a:ext cx="3009489" cy="1637314"/>
      </dsp:txXfrm>
    </dsp:sp>
    <dsp:sp modelId="{CF65164D-FE83-B348-A231-296EE3CFCB80}">
      <dsp:nvSpPr>
        <dsp:cNvPr id="0" name=""/>
        <dsp:cNvSpPr/>
      </dsp:nvSpPr>
      <dsp:spPr>
        <a:xfrm rot="5400000">
          <a:off x="-418722" y="2967597"/>
          <a:ext cx="2791484" cy="1954038"/>
        </a:xfrm>
        <a:prstGeom prst="chevron">
          <a:avLst/>
        </a:prstGeom>
        <a:solidFill>
          <a:srgbClr val="0097B2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 dirty="0"/>
            <a:t>Propagation</a:t>
          </a:r>
          <a:endParaRPr lang="de-DE" sz="2800" kern="1200" dirty="0"/>
        </a:p>
      </dsp:txBody>
      <dsp:txXfrm rot="-5400000">
        <a:off x="1" y="3525893"/>
        <a:ext cx="1954038" cy="837446"/>
      </dsp:txXfrm>
    </dsp:sp>
    <dsp:sp modelId="{7EACE234-2CEA-384E-8BC1-F0B10957A67F}">
      <dsp:nvSpPr>
        <dsp:cNvPr id="0" name=""/>
        <dsp:cNvSpPr/>
      </dsp:nvSpPr>
      <dsp:spPr>
        <a:xfrm rot="5400000">
          <a:off x="2595838" y="1907075"/>
          <a:ext cx="1814464" cy="309806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baseline="0" dirty="0"/>
            <a:t>Particles move to the adjacent cell in their current direction</a:t>
          </a:r>
          <a:endParaRPr lang="de-DE" sz="2000" kern="1200" dirty="0"/>
        </a:p>
      </dsp:txBody>
      <dsp:txXfrm rot="-5400000">
        <a:off x="1954039" y="2637450"/>
        <a:ext cx="3009489" cy="1637314"/>
      </dsp:txXfrm>
    </dsp:sp>
    <dsp:sp modelId="{4E8F9C53-BF10-D140-AF3C-516492DF280C}">
      <dsp:nvSpPr>
        <dsp:cNvPr id="0" name=""/>
        <dsp:cNvSpPr/>
      </dsp:nvSpPr>
      <dsp:spPr>
        <a:xfrm rot="5400000">
          <a:off x="-418722" y="5512428"/>
          <a:ext cx="2791484" cy="1954038"/>
        </a:xfrm>
        <a:prstGeom prst="chevron">
          <a:avLst/>
        </a:prstGeom>
        <a:solidFill>
          <a:srgbClr val="43B6C8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Reflection</a:t>
          </a:r>
          <a:endParaRPr lang="de-DE" sz="2800" kern="1200"/>
        </a:p>
      </dsp:txBody>
      <dsp:txXfrm rot="-5400000">
        <a:off x="1" y="6070724"/>
        <a:ext cx="1954038" cy="837446"/>
      </dsp:txXfrm>
    </dsp:sp>
    <dsp:sp modelId="{2E2BB867-46A9-2542-975D-93FE2176DA7E}">
      <dsp:nvSpPr>
        <dsp:cNvPr id="0" name=""/>
        <dsp:cNvSpPr/>
      </dsp:nvSpPr>
      <dsp:spPr>
        <a:xfrm rot="5400000">
          <a:off x="2595838" y="4451906"/>
          <a:ext cx="1814464" cy="309806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baseline="0" dirty="0"/>
            <a:t>Particles that hit a wall are reflected by changing directions by 180 degrees</a:t>
          </a:r>
          <a:endParaRPr lang="de-DE" sz="2000" kern="1200" dirty="0"/>
        </a:p>
      </dsp:txBody>
      <dsp:txXfrm rot="-5400000">
        <a:off x="1954039" y="5182281"/>
        <a:ext cx="3009489" cy="16373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9" name="Shape 13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619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00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 </a:t>
            </a:r>
            <a:r>
              <a:rPr lang="en-US" dirty="0" err="1"/>
              <a:t>boundarys</a:t>
            </a:r>
            <a:r>
              <a:rPr lang="en-US" dirty="0"/>
              <a:t> = walls that cannot be passed</a:t>
            </a:r>
          </a:p>
          <a:p>
            <a:r>
              <a:rPr lang="en-US" dirty="0"/>
              <a:t>Toroidal = every edge is </a:t>
            </a:r>
            <a:r>
              <a:rPr lang="en-US" dirty="0" err="1"/>
              <a:t>coneted</a:t>
            </a:r>
            <a:r>
              <a:rPr lang="en-US" dirty="0"/>
              <a:t> to its opposed edge (Donut-Shape)</a:t>
            </a:r>
          </a:p>
        </p:txBody>
      </p:sp>
    </p:spTree>
    <p:extLst>
      <p:ext uri="{BB962C8B-B14F-4D97-AF65-F5344CB8AC3E}">
        <p14:creationId xmlns:p14="http://schemas.microsoft.com/office/powerpoint/2010/main" val="745595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HPP original was for gas simulation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! PROBLEM: </a:t>
            </a:r>
            <a:r>
              <a:rPr lang="en-US" dirty="0" err="1"/>
              <a:t>Randomnes</a:t>
            </a:r>
            <a:r>
              <a:rPr lang="en-US" dirty="0"/>
              <a:t> in thermodynamics (entropy) --&gt; CA is perfectly </a:t>
            </a:r>
            <a:r>
              <a:rPr lang="en-US" dirty="0" err="1"/>
              <a:t>invertable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OUR HPP:</a:t>
            </a:r>
          </a:p>
          <a:p>
            <a:pPr marL="171450" indent="-171450">
              <a:buFontTx/>
              <a:buChar char="-"/>
            </a:pPr>
            <a:r>
              <a:rPr lang="en-US" dirty="0"/>
              <a:t>North=Up | South=</a:t>
            </a:r>
            <a:r>
              <a:rPr lang="en-US" dirty="0" err="1"/>
              <a:t>Donw</a:t>
            </a:r>
            <a:r>
              <a:rPr lang="en-US" dirty="0"/>
              <a:t> | East=right | West=Left</a:t>
            </a:r>
          </a:p>
          <a:p>
            <a:pPr marL="171450" indent="-171450">
              <a:buFontTx/>
              <a:buChar char="-"/>
            </a:pPr>
            <a:r>
              <a:rPr lang="en-US" dirty="0"/>
              <a:t>EACH CELL IS REPRESENTED BY A BYTE/ 8 BITS</a:t>
            </a:r>
          </a:p>
        </p:txBody>
      </p:sp>
    </p:spTree>
    <p:extLst>
      <p:ext uri="{BB962C8B-B14F-4D97-AF65-F5344CB8AC3E}">
        <p14:creationId xmlns:p14="http://schemas.microsoft.com/office/powerpoint/2010/main" val="1892639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Data Is loaded as bytes </a:t>
            </a:r>
            <a:r>
              <a:rPr lang="en-US" dirty="0">
                <a:sym typeface="Wingdings" pitchFamily="2" charset="2"/>
              </a:rPr>
              <a:t> Each byte is placed in one cell of the automata</a:t>
            </a:r>
          </a:p>
          <a:p>
            <a:pPr marL="171450" indent="-171450">
              <a:buFontTx/>
              <a:buChar char="-"/>
            </a:pPr>
            <a:r>
              <a:rPr lang="en-US" dirty="0">
                <a:sym typeface="Wingdings" pitchFamily="2" charset="2"/>
              </a:rPr>
              <a:t>LOW BITS REPRESEND THE GAS PARTICLES</a:t>
            </a:r>
          </a:p>
          <a:p>
            <a:pPr marL="171450" indent="-171450">
              <a:buFontTx/>
              <a:buChar char="-"/>
            </a:pPr>
            <a:r>
              <a:rPr lang="en-US" dirty="0">
                <a:sym typeface="Wingdings" pitchFamily="2" charset="2"/>
              </a:rPr>
              <a:t>High-Bits are not taken into account</a:t>
            </a:r>
          </a:p>
          <a:p>
            <a:pPr marL="171450" indent="-171450">
              <a:buFontTx/>
              <a:buChar char="-"/>
            </a:pPr>
            <a:endParaRPr lang="en-US" dirty="0">
              <a:sym typeface="Wingdings" pitchFamily="2" charset="2"/>
            </a:endParaRPr>
          </a:p>
          <a:p>
            <a:pPr marL="171450" indent="-171450">
              <a:buFontTx/>
              <a:buChar char="-"/>
            </a:pPr>
            <a:r>
              <a:rPr lang="en-US" dirty="0">
                <a:sym typeface="Wingdings" pitchFamily="2" charset="2"/>
              </a:rPr>
              <a:t>K-Bit = KEY/ Wall  Very important for cryptography</a:t>
            </a:r>
          </a:p>
          <a:p>
            <a:pPr marL="171450" lvl="2" indent="-171450">
              <a:buFontTx/>
              <a:buChar char="-"/>
            </a:pPr>
            <a:r>
              <a:rPr lang="en-US" dirty="0">
                <a:sym typeface="Wingdings" pitchFamily="2" charset="2"/>
              </a:rPr>
              <a:t>AS SHOWN WE WOULD MANIPULATE THE ORIGINAL/ MESSAGE BITS   CREATE SEPARATE BOLEAN MATRIX (MASK) </a:t>
            </a:r>
            <a:br>
              <a:rPr lang="en-US" dirty="0"/>
            </a:br>
            <a:endParaRPr lang="en-US" dirty="0"/>
          </a:p>
          <a:p>
            <a:pPr marL="171450" lvl="2" indent="-171450">
              <a:buFontTx/>
              <a:buChar char="-"/>
            </a:pPr>
            <a:r>
              <a:rPr lang="en-US" dirty="0"/>
              <a:t>Table is to give an idea of how an ASCII Character is translated into bytes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53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 HPP-Rules Consist of 3 different elements</a:t>
            </a:r>
            <a:br>
              <a:rPr lang="en-US" dirty="0"/>
            </a:br>
            <a:r>
              <a:rPr lang="en-US" dirty="0"/>
              <a:t>1) COLLISION</a:t>
            </a:r>
            <a:br>
              <a:rPr lang="en-US" dirty="0"/>
            </a:br>
            <a:r>
              <a:rPr lang="en-US" dirty="0"/>
              <a:t> -&gt; TWO PARTICLES HIT EACHOTHER HEAD-ON </a:t>
            </a:r>
            <a:r>
              <a:rPr lang="en-US" dirty="0">
                <a:sym typeface="Wingdings" pitchFamily="2" charset="2"/>
              </a:rPr>
              <a:t> ROTATED BY 90 DEGREES (NORTH HITS SOUTH  BECOMES EAST AND WEST)</a:t>
            </a:r>
            <a:br>
              <a:rPr lang="en-US" dirty="0">
                <a:sym typeface="Wingdings" pitchFamily="2" charset="2"/>
              </a:rPr>
            </a:b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2) PROPAGATION</a:t>
            </a: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 -&gt; PARTICLES PROPAGATE TO THE ADJECNT CELL CORRESPONDING TO THEIR DIRECTION (NORTH MOVES UP, SOUTH MOVES DOWN etc.)</a:t>
            </a: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-! INVERSE PROPAGATION MOVES BACKWARDS  NORTH MOVES DOWN, SOUTH MOVES UP, EAST MOVES LEFT, WEST MOVES RIGHT</a:t>
            </a:r>
            <a:br>
              <a:rPr lang="en-US" dirty="0">
                <a:sym typeface="Wingdings" pitchFamily="2" charset="2"/>
              </a:rPr>
            </a:b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3) REFLECTION</a:t>
            </a:r>
          </a:p>
          <a:p>
            <a:pPr marL="171450" indent="-171450">
              <a:buFontTx/>
              <a:buChar char="-"/>
            </a:pPr>
            <a:r>
              <a:rPr lang="en-US" dirty="0">
                <a:sym typeface="Wingdings" pitchFamily="2" charset="2"/>
              </a:rPr>
              <a:t>-&gt; WHEN THERE IS A WALL IN A CELL A PARTICLE IS ROTEATED BY 180 DEGREES/ REFLECTED (NORTH SOUTH)</a:t>
            </a:r>
          </a:p>
        </p:txBody>
      </p:sp>
    </p:spTree>
    <p:extLst>
      <p:ext uri="{BB962C8B-B14F-4D97-AF65-F5344CB8AC3E}">
        <p14:creationId xmlns:p14="http://schemas.microsoft.com/office/powerpoint/2010/main" val="4007658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61CF0-7784-ADCA-38CA-F72C11636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9B35445-780B-3B01-EB52-6D335E408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2082304-76FE-72FB-126E-F010BA47C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70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Lets</a:t>
            </a:r>
            <a:r>
              <a:rPr lang="de-DE" dirty="0"/>
              <a:t> </a:t>
            </a:r>
            <a:r>
              <a:rPr lang="de-DE" dirty="0" err="1"/>
              <a:t>look</a:t>
            </a:r>
            <a:r>
              <a:rPr lang="de-DE" dirty="0"/>
              <a:t> at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Parallelizsation</a:t>
            </a:r>
            <a:r>
              <a:rPr lang="de-DE" dirty="0"/>
              <a:t> and </a:t>
            </a:r>
            <a:r>
              <a:rPr lang="de-DE" dirty="0" err="1"/>
              <a:t>first</a:t>
            </a:r>
            <a:r>
              <a:rPr lang="de-DE" dirty="0"/>
              <a:t> check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do.</a:t>
            </a:r>
            <a:br>
              <a:rPr lang="de-DE" dirty="0"/>
            </a:br>
            <a:r>
              <a:rPr lang="de-DE" dirty="0"/>
              <a:t>3 </a:t>
            </a:r>
            <a:r>
              <a:rPr lang="de-DE" dirty="0" err="1"/>
              <a:t>Phases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interested</a:t>
            </a:r>
            <a:r>
              <a:rPr lang="de-DE" dirty="0"/>
              <a:t> in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second</a:t>
            </a:r>
            <a:r>
              <a:rPr lang="de-DE" dirty="0"/>
              <a:t> </a:t>
            </a:r>
            <a:r>
              <a:rPr lang="de-DE" dirty="0" err="1"/>
              <a:t>one</a:t>
            </a:r>
            <a:endParaRPr lang="de-DE" dirty="0"/>
          </a:p>
          <a:p>
            <a:r>
              <a:rPr lang="de-DE" dirty="0" err="1"/>
              <a:t>We</a:t>
            </a:r>
            <a:r>
              <a:rPr lang="de-DE" dirty="0"/>
              <a:t> loop </a:t>
            </a:r>
            <a:r>
              <a:rPr lang="de-DE" dirty="0" err="1"/>
              <a:t>over</a:t>
            </a:r>
            <a:r>
              <a:rPr lang="de-DE" dirty="0"/>
              <a:t> a </a:t>
            </a:r>
            <a:r>
              <a:rPr lang="de-DE" dirty="0" err="1"/>
              <a:t>few</a:t>
            </a:r>
            <a:r>
              <a:rPr lang="de-DE" dirty="0"/>
              <a:t> </a:t>
            </a:r>
            <a:r>
              <a:rPr lang="de-DE" dirty="0" err="1"/>
              <a:t>thousand</a:t>
            </a:r>
            <a:r>
              <a:rPr lang="de-DE" dirty="0"/>
              <a:t> </a:t>
            </a:r>
            <a:r>
              <a:rPr lang="de-DE" dirty="0" err="1"/>
              <a:t>iterations</a:t>
            </a:r>
            <a:r>
              <a:rPr lang="de-DE" dirty="0"/>
              <a:t> and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every</a:t>
            </a:r>
            <a:r>
              <a:rPr lang="de-DE" dirty="0"/>
              <a:t> </a:t>
            </a:r>
            <a:r>
              <a:rPr lang="de-DE" dirty="0" err="1"/>
              <a:t>grid</a:t>
            </a:r>
            <a:r>
              <a:rPr lang="de-DE" dirty="0"/>
              <a:t> </a:t>
            </a:r>
            <a:r>
              <a:rPr lang="de-DE" dirty="0" err="1"/>
              <a:t>cell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most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work</a:t>
            </a:r>
            <a:endParaRPr lang="de-DE" dirty="0">
              <a:sym typeface="Wingdings" panose="05000000000000000000" pitchFamily="2" charset="2"/>
            </a:endParaRPr>
          </a:p>
          <a:p>
            <a:r>
              <a:rPr lang="de-DE" dirty="0" err="1">
                <a:sym typeface="Wingdings" panose="05000000000000000000" pitchFamily="2" charset="2"/>
              </a:rPr>
              <a:t>We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parallelised</a:t>
            </a:r>
            <a:r>
              <a:rPr lang="de-DE" dirty="0">
                <a:sym typeface="Wingdings" panose="05000000000000000000" pitchFamily="2" charset="2"/>
              </a:rPr>
              <a:t> Phase 1 and 3 </a:t>
            </a:r>
            <a:r>
              <a:rPr lang="de-DE" dirty="0" err="1">
                <a:sym typeface="Wingdings" panose="05000000000000000000" pitchFamily="2" charset="2"/>
              </a:rPr>
              <a:t>partially</a:t>
            </a:r>
            <a:r>
              <a:rPr lang="de-DE" dirty="0">
                <a:sym typeface="Wingdings" panose="05000000000000000000" pitchFamily="2" charset="2"/>
              </a:rPr>
              <a:t>, but </a:t>
            </a:r>
            <a:r>
              <a:rPr lang="de-DE" dirty="0" err="1">
                <a:sym typeface="Wingdings" panose="05000000000000000000" pitchFamily="2" charset="2"/>
              </a:rPr>
              <a:t>focused</a:t>
            </a:r>
            <a:r>
              <a:rPr lang="de-DE" dirty="0">
                <a:sym typeface="Wingdings" panose="05000000000000000000" pitchFamily="2" charset="2"/>
              </a:rPr>
              <a:t> on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main</a:t>
            </a:r>
            <a:r>
              <a:rPr lang="de-DE" dirty="0">
                <a:sym typeface="Wingdings" panose="05000000000000000000" pitchFamily="2" charset="2"/>
              </a:rPr>
              <a:t> loop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37213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 –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do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sequential</a:t>
            </a:r>
            <a:r>
              <a:rPr lang="de-DE" dirty="0"/>
              <a:t>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showed</a:t>
            </a:r>
            <a:r>
              <a:rPr lang="de-DE" dirty="0"/>
              <a:t> </a:t>
            </a:r>
            <a:r>
              <a:rPr lang="de-DE" dirty="0" err="1"/>
              <a:t>earlier</a:t>
            </a:r>
            <a:r>
              <a:rPr lang="de-DE" dirty="0"/>
              <a:t>?</a:t>
            </a:r>
          </a:p>
          <a:p>
            <a:r>
              <a:rPr lang="de-DE" dirty="0"/>
              <a:t>First </a:t>
            </a:r>
            <a:r>
              <a:rPr lang="de-DE" dirty="0" err="1"/>
              <a:t>realization</a:t>
            </a:r>
            <a:r>
              <a:rPr lang="de-DE" dirty="0"/>
              <a:t>: Cells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mostly</a:t>
            </a:r>
            <a:r>
              <a:rPr lang="de-DE" dirty="0"/>
              <a:t> </a:t>
            </a:r>
            <a:r>
              <a:rPr lang="de-DE" dirty="0" err="1"/>
              <a:t>independent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868435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Blocking (</a:t>
            </a:r>
            <a:r>
              <a:rPr lang="en-US" b="1" dirty="0" err="1"/>
              <a:t>MPI_Send</a:t>
            </a:r>
            <a:r>
              <a:rPr lang="en-US" b="1" dirty="0"/>
              <a:t>, </a:t>
            </a:r>
            <a:r>
              <a:rPr lang="en-US" b="1" dirty="0" err="1"/>
              <a:t>MPI_Recv</a:t>
            </a:r>
            <a:r>
              <a:rPr lang="en-US" b="1" dirty="0"/>
              <a:t>)</a:t>
            </a:r>
            <a:r>
              <a:rPr lang="en-US" dirty="0"/>
              <a:t>: the call </a:t>
            </a:r>
            <a:r>
              <a:rPr lang="en-US" b="1" dirty="0"/>
              <a:t>waits</a:t>
            </a:r>
            <a:r>
              <a:rPr lang="en-US" dirty="0"/>
              <a:t> until it’s safe to reuse/read the buffer.</a:t>
            </a:r>
          </a:p>
          <a:p>
            <a:r>
              <a:rPr lang="en-US" b="1" dirty="0"/>
              <a:t>Non-blocking (</a:t>
            </a:r>
            <a:r>
              <a:rPr lang="en-US" b="1" dirty="0" err="1"/>
              <a:t>MPI_Isend</a:t>
            </a:r>
            <a:r>
              <a:rPr lang="en-US" b="1" dirty="0"/>
              <a:t>, </a:t>
            </a:r>
            <a:r>
              <a:rPr lang="en-US" b="1" dirty="0" err="1"/>
              <a:t>MPI_Irecv</a:t>
            </a:r>
            <a:r>
              <a:rPr lang="en-US" b="1" dirty="0"/>
              <a:t>)</a:t>
            </a:r>
            <a:r>
              <a:rPr lang="en-US" dirty="0"/>
              <a:t>: returns </a:t>
            </a:r>
            <a:r>
              <a:rPr lang="en-US" b="1" dirty="0"/>
              <a:t>right away</a:t>
            </a:r>
            <a:r>
              <a:rPr lang="en-US" dirty="0"/>
              <a:t>; you must finish it later with </a:t>
            </a:r>
            <a:r>
              <a:rPr lang="en-US" dirty="0" err="1"/>
              <a:t>MPI_Wait</a:t>
            </a:r>
            <a:r>
              <a:rPr lang="en-US" dirty="0"/>
              <a:t>/</a:t>
            </a:r>
            <a:r>
              <a:rPr lang="en-US" dirty="0" err="1"/>
              <a:t>MPI_Test</a:t>
            </a:r>
            <a:r>
              <a:rPr lang="en-US" dirty="0"/>
              <a:t>. Don’t touch the buffers until it’s done.</a:t>
            </a:r>
          </a:p>
          <a:p>
            <a:r>
              <a:rPr lang="en-US" b="1" dirty="0"/>
              <a:t>Overlap work</a:t>
            </a:r>
            <a:r>
              <a:rPr lang="en-US" dirty="0"/>
              <a:t>: non-blocking can let you </a:t>
            </a:r>
            <a:r>
              <a:rPr lang="en-US" b="1" dirty="0"/>
              <a:t>compute while data moves</a:t>
            </a:r>
            <a:r>
              <a:rPr lang="en-US" dirty="0"/>
              <a:t> (latency hiding).</a:t>
            </a:r>
          </a:p>
          <a:p>
            <a:r>
              <a:rPr lang="en-US" b="1" dirty="0"/>
              <a:t>Deadlock</a:t>
            </a:r>
            <a:r>
              <a:rPr lang="en-US" dirty="0"/>
              <a:t>: blocking calls can </a:t>
            </a:r>
            <a:r>
              <a:rPr lang="en-US" b="1" dirty="0"/>
              <a:t>stall each other</a:t>
            </a:r>
            <a:r>
              <a:rPr lang="en-US" dirty="0"/>
              <a:t>; non-blocking helps avoid that by letting both sides post then wait.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305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Next </a:t>
            </a:r>
            <a:r>
              <a:rPr lang="de-DE" dirty="0" err="1"/>
              <a:t>important</a:t>
            </a:r>
            <a:r>
              <a:rPr lang="de-DE" dirty="0"/>
              <a:t> </a:t>
            </a:r>
            <a:r>
              <a:rPr lang="de-DE" dirty="0" err="1"/>
              <a:t>realisation</a:t>
            </a:r>
            <a:r>
              <a:rPr lang="de-DE" dirty="0"/>
              <a:t>:</a:t>
            </a:r>
            <a:br>
              <a:rPr lang="de-DE" dirty="0"/>
            </a:br>
            <a:r>
              <a:rPr lang="en-US" dirty="0" err="1">
                <a:sym typeface="Wingdings" panose="05000000000000000000" pitchFamily="2" charset="2"/>
              </a:rPr>
              <a:t>Compution</a:t>
            </a:r>
            <a:r>
              <a:rPr lang="en-US" dirty="0">
                <a:sym typeface="Wingdings" panose="05000000000000000000" pitchFamily="2" charset="2"/>
              </a:rPr>
              <a:t> of next cell states happens in loops.  </a:t>
            </a:r>
          </a:p>
          <a:p>
            <a:endParaRPr lang="de-DE" dirty="0"/>
          </a:p>
          <a:p>
            <a:r>
              <a:rPr lang="en-US" dirty="0"/>
              <a:t>#pragma </a:t>
            </a:r>
            <a:r>
              <a:rPr lang="en-US" dirty="0" err="1"/>
              <a:t>omp</a:t>
            </a:r>
            <a:r>
              <a:rPr lang="en-US" dirty="0"/>
              <a:t> parallel for schedule(static): </a:t>
            </a:r>
            <a:br>
              <a:rPr lang="en-US" dirty="0"/>
            </a:br>
            <a:r>
              <a:rPr lang="en-US" dirty="0"/>
              <a:t>runs the loop on </a:t>
            </a:r>
            <a:r>
              <a:rPr lang="en-US" b="1" dirty="0"/>
              <a:t>multiple threads</a:t>
            </a:r>
            <a:r>
              <a:rPr lang="en-US" dirty="0"/>
              <a:t>; iterations are </a:t>
            </a:r>
            <a:r>
              <a:rPr lang="en-US" b="1" dirty="0"/>
              <a:t>split evenly up-front</a:t>
            </a:r>
            <a:r>
              <a:rPr lang="en-US" dirty="0"/>
              <a:t> (fixed chunks). Low overhead; great when each iteration takes </a:t>
            </a:r>
            <a:r>
              <a:rPr lang="en-US" b="1" dirty="0"/>
              <a:t>about the same time</a:t>
            </a:r>
            <a:r>
              <a:rPr lang="en-US" dirty="0"/>
              <a:t>. Make sure iterations don’t write to the same data (use reduction(...) if summing).</a:t>
            </a:r>
          </a:p>
          <a:p>
            <a:r>
              <a:rPr lang="en-US" dirty="0"/>
              <a:t>#pragma </a:t>
            </a:r>
            <a:r>
              <a:rPr lang="en-US" dirty="0" err="1"/>
              <a:t>omp</a:t>
            </a:r>
            <a:r>
              <a:rPr lang="en-US" dirty="0"/>
              <a:t> </a:t>
            </a:r>
            <a:r>
              <a:rPr lang="en-US" dirty="0" err="1"/>
              <a:t>simd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makes one core’s </a:t>
            </a:r>
            <a:r>
              <a:rPr lang="en-US" b="1" dirty="0"/>
              <a:t>vector unit</a:t>
            </a:r>
            <a:r>
              <a:rPr lang="en-US" dirty="0"/>
              <a:t> do </a:t>
            </a:r>
            <a:r>
              <a:rPr lang="en-US" b="1" dirty="0"/>
              <a:t>several iterations at once</a:t>
            </a:r>
            <a:r>
              <a:rPr lang="en-US" dirty="0"/>
              <a:t> (no extra threads). Works best if the iterations have strong similarities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82361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960E7-67FD-6AB2-6108-DAAC62E25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08D00D6-5A45-9F11-0720-A6FD0BB0C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0F6EAB4-819C-E773-F664-A17673F3E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every</a:t>
            </a:r>
            <a:r>
              <a:rPr lang="de-DE" dirty="0"/>
              <a:t> rank (</a:t>
            </a:r>
            <a:r>
              <a:rPr lang="de-DE" dirty="0" err="1"/>
              <a:t>every</a:t>
            </a:r>
            <a:r>
              <a:rPr lang="de-DE" dirty="0"/>
              <a:t> </a:t>
            </a:r>
            <a:r>
              <a:rPr lang="de-DE" dirty="0" err="1"/>
              <a:t>mpi</a:t>
            </a:r>
            <a:r>
              <a:rPr lang="de-DE" dirty="0"/>
              <a:t> </a:t>
            </a:r>
            <a:r>
              <a:rPr lang="de-DE" dirty="0" err="1"/>
              <a:t>process</a:t>
            </a:r>
            <a:r>
              <a:rPr lang="de-DE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8375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B9142-EE8E-9660-9D8B-F0EF7FB31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B46D94E-98EF-1269-4BFA-FF982DF677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F32C5F2-4B09-526F-3CC9-0E0BF7A99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Trim the loop</a:t>
            </a:r>
            <a:r>
              <a:rPr lang="en-US" dirty="0"/>
              <a:t>: </a:t>
            </a:r>
          </a:p>
          <a:p>
            <a:r>
              <a:rPr lang="en-US" dirty="0"/>
              <a:t>Move anything that doesn’t change each iteration </a:t>
            </a:r>
            <a:r>
              <a:rPr lang="en-US" b="1" dirty="0"/>
              <a:t>out of the loop</a:t>
            </a:r>
            <a:r>
              <a:rPr lang="en-US" dirty="0"/>
              <a:t> to avoid work in the body</a:t>
            </a:r>
          </a:p>
          <a:p>
            <a:r>
              <a:rPr lang="en-US" b="1" dirty="0"/>
              <a:t>Set the mode as early as possible</a:t>
            </a:r>
            <a:r>
              <a:rPr lang="en-US" dirty="0"/>
              <a:t>: </a:t>
            </a:r>
          </a:p>
          <a:p>
            <a:r>
              <a:rPr lang="en-US" dirty="0"/>
              <a:t>Decide the branch </a:t>
            </a:r>
            <a:r>
              <a:rPr lang="en-US" b="1" dirty="0"/>
              <a:t>before</a:t>
            </a:r>
            <a:r>
              <a:rPr lang="en-US" dirty="0"/>
              <a:t> the loop (or split into two separate loops/functions: encrypt-only vs decrypt-only) so the inner loop has </a:t>
            </a:r>
            <a:r>
              <a:rPr lang="en-US" b="1" dirty="0"/>
              <a:t>no if</a:t>
            </a:r>
          </a:p>
          <a:p>
            <a:r>
              <a:rPr lang="en-US" b="1" dirty="0"/>
              <a:t>Compiler flags matter</a:t>
            </a:r>
            <a:r>
              <a:rPr lang="en-US" dirty="0"/>
              <a:t>: </a:t>
            </a:r>
          </a:p>
          <a:p>
            <a:r>
              <a:rPr lang="en-US" dirty="0"/>
              <a:t>Build with high optimization and CPU tuning (e.g., -O3 -march=native -</a:t>
            </a:r>
            <a:r>
              <a:rPr lang="en-US" dirty="0" err="1"/>
              <a:t>flto</a:t>
            </a:r>
            <a:r>
              <a:rPr lang="en-US" dirty="0"/>
              <a:t> or MSVC /O2 /GL /arch:AVX2) and consider PGO; these enable </a:t>
            </a:r>
            <a:r>
              <a:rPr lang="en-US" b="1" dirty="0"/>
              <a:t>auto-vectorization</a:t>
            </a:r>
            <a:r>
              <a:rPr lang="en-US" dirty="0"/>
              <a:t>, inlining, and better use of your machine’s instructions.</a:t>
            </a:r>
          </a:p>
          <a:p>
            <a:r>
              <a:rPr lang="en-US" b="1" dirty="0"/>
              <a:t>Don’t copy large-scale, use pointers</a:t>
            </a:r>
            <a:r>
              <a:rPr lang="en-US" dirty="0"/>
              <a:t>: </a:t>
            </a:r>
          </a:p>
          <a:p>
            <a:r>
              <a:rPr lang="en-US" dirty="0"/>
              <a:t>Work </a:t>
            </a:r>
            <a:r>
              <a:rPr lang="en-US" b="1" dirty="0"/>
              <a:t>in place</a:t>
            </a:r>
            <a:r>
              <a:rPr lang="en-US" dirty="0"/>
              <a:t> via pointers/references. Avoid creating big temporaries per iteration</a:t>
            </a:r>
          </a:p>
          <a:p>
            <a:r>
              <a:rPr lang="en-US" b="1" dirty="0"/>
              <a:t>Avoid custom made </a:t>
            </a:r>
            <a:r>
              <a:rPr lang="en-US" b="1" dirty="0" err="1"/>
              <a:t>datastructures</a:t>
            </a:r>
            <a:r>
              <a:rPr lang="en-US" dirty="0"/>
              <a:t>: </a:t>
            </a:r>
          </a:p>
          <a:p>
            <a:r>
              <a:rPr lang="en-US" dirty="0"/>
              <a:t>Prefer </a:t>
            </a:r>
            <a:r>
              <a:rPr lang="en-US" b="1" dirty="0"/>
              <a:t>simple containers </a:t>
            </a:r>
            <a:r>
              <a:rPr lang="en-US" b="0" dirty="0"/>
              <a:t>so that the compiler does not need to pack and unpack them</a:t>
            </a:r>
          </a:p>
        </p:txBody>
      </p:sp>
    </p:spTree>
    <p:extLst>
      <p:ext uri="{BB962C8B-B14F-4D97-AF65-F5344CB8AC3E}">
        <p14:creationId xmlns:p14="http://schemas.microsoft.com/office/powerpoint/2010/main" val="37958361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8671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=1 MPI_PROCESS AND OMP THREAD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can see a significant improvement of runtime with greater </a:t>
            </a:r>
            <a:r>
              <a:rPr lang="en-US" dirty="0" err="1"/>
              <a:t>gridsizes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Parallalisation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brouth</a:t>
            </a:r>
            <a:r>
              <a:rPr lang="en-US" dirty="0">
                <a:sym typeface="Wingdings" pitchFamily="2" charset="2"/>
              </a:rPr>
              <a:t> us an speed up</a:t>
            </a:r>
            <a:br>
              <a:rPr lang="en-US" dirty="0">
                <a:sym typeface="Wingdings" pitchFamily="2" charset="2"/>
              </a:rPr>
            </a:b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Table shows the best model per mode and grid-size</a:t>
            </a: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– Increase of MPI-Processes  with </a:t>
            </a:r>
            <a:r>
              <a:rPr lang="en-US" dirty="0" err="1">
                <a:sym typeface="Wingdings" pitchFamily="2" charset="2"/>
              </a:rPr>
              <a:t>problemsize</a:t>
            </a: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- OMP seems not to effect the runtime strongly (maximum of 2 Threads brought best configs)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7951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WAEK-SCALING =^ GUSTAFSONs-LAW</a:t>
            </a:r>
            <a:br>
              <a:rPr lang="en-US" dirty="0"/>
            </a:br>
            <a:r>
              <a:rPr lang="en-US" dirty="0"/>
              <a:t>- With perfect weak scaling, the normalized time remains constant regardless of how many cores are used.</a:t>
            </a:r>
            <a:br>
              <a:rPr lang="en-US" dirty="0"/>
            </a:br>
            <a:r>
              <a:rPr lang="en-US" dirty="0"/>
              <a:t>- </a:t>
            </a:r>
            <a:r>
              <a:rPr lang="en-US" b="1" dirty="0"/>
              <a:t>This means that if each core has the same amount of work and communication were “free,” the curve should be a horizontal line.</a:t>
            </a:r>
          </a:p>
          <a:p>
            <a:endParaRPr lang="en-US" b="1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=&gt; Both lines increase with more cores</a:t>
            </a:r>
            <a:br>
              <a:rPr lang="en-US" b="1" dirty="0"/>
            </a:br>
            <a:r>
              <a:rPr lang="de-DE" sz="1200" b="0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Which</a:t>
            </a:r>
            <a:r>
              <a:rPr lang="de-DE" sz="1200" b="0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0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means</a:t>
            </a:r>
            <a:r>
              <a:rPr lang="de-DE" sz="1200" b="0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0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that</a:t>
            </a:r>
            <a:r>
              <a:rPr lang="de-DE" sz="1200" b="0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0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communication</a:t>
            </a:r>
            <a:r>
              <a:rPr lang="de-DE" sz="1200" b="0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0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between</a:t>
            </a:r>
            <a:r>
              <a:rPr lang="de-DE" sz="1200" b="0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0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processes</a:t>
            </a:r>
            <a:r>
              <a:rPr lang="de-DE" sz="1200" b="0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/</a:t>
            </a:r>
            <a:r>
              <a:rPr lang="de-DE" sz="1200" b="0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threads</a:t>
            </a:r>
            <a:r>
              <a:rPr lang="de-DE" sz="1200" b="0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0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takes</a:t>
            </a:r>
            <a:r>
              <a:rPr lang="de-DE" sz="1200" b="0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additional time, </a:t>
            </a:r>
            <a:r>
              <a:rPr lang="de-DE" sz="1200" b="0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which</a:t>
            </a:r>
            <a:r>
              <a:rPr lang="de-DE" sz="1200" b="0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0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becomes</a:t>
            </a:r>
            <a:r>
              <a:rPr lang="de-DE" sz="1200" b="0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0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more</a:t>
            </a:r>
            <a:r>
              <a:rPr lang="de-DE" sz="1200" b="0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0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significant</a:t>
            </a:r>
            <a:r>
              <a:rPr lang="de-DE" sz="1200" b="0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0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the</a:t>
            </a:r>
            <a:r>
              <a:rPr lang="de-DE" sz="1200" b="0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0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more</a:t>
            </a:r>
            <a:r>
              <a:rPr lang="de-DE" sz="1200" b="0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0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cores</a:t>
            </a:r>
            <a:r>
              <a:rPr lang="de-DE" sz="1200" b="0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0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you</a:t>
            </a:r>
            <a:r>
              <a:rPr lang="de-DE" sz="1200" b="0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0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have</a:t>
            </a:r>
            <a:r>
              <a:rPr lang="de-DE" sz="1200" b="0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.</a:t>
            </a:r>
          </a:p>
          <a:p>
            <a:br>
              <a:rPr lang="en-US" dirty="0"/>
            </a:br>
            <a:r>
              <a:rPr lang="en-US" b="1" dirty="0"/>
              <a:t>=&gt; TAKE-AWAY: Weak scaling is not </a:t>
            </a:r>
            <a:r>
              <a:rPr lang="en-US" b="1" dirty="0" err="1"/>
              <a:t>tobad</a:t>
            </a:r>
            <a:r>
              <a:rPr lang="en-US" b="1" dirty="0"/>
              <a:t> (time increase is </a:t>
            </a:r>
            <a:r>
              <a:rPr lang="en-US" b="1" dirty="0" err="1"/>
              <a:t>ony</a:t>
            </a:r>
            <a:r>
              <a:rPr lang="en-US" b="1" dirty="0"/>
              <a:t> in 0.1 </a:t>
            </a:r>
            <a:r>
              <a:rPr lang="en-US" b="1" dirty="0" err="1"/>
              <a:t>ms</a:t>
            </a:r>
            <a:r>
              <a:rPr lang="en-US" b="1" dirty="0"/>
              <a:t> with a max of 100 cores. Communication takes </a:t>
            </a:r>
            <a:r>
              <a:rPr lang="en-US" b="1" dirty="0" err="1"/>
              <a:t>addiational</a:t>
            </a:r>
            <a:r>
              <a:rPr lang="en-US" b="1" dirty="0"/>
              <a:t> time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STRONG-SCALING =AMDAHLS-LAW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1" dirty="0"/>
              <a:t>Small </a:t>
            </a:r>
            <a:r>
              <a:rPr lang="en-US" b="1" dirty="0" err="1"/>
              <a:t>Gridsizes</a:t>
            </a:r>
            <a:r>
              <a:rPr lang="en-US" b="1" dirty="0"/>
              <a:t> (322, 64, 128)</a:t>
            </a:r>
            <a:r>
              <a:rPr lang="en-US" b="1" dirty="0">
                <a:sym typeface="Wingdings" pitchFamily="2" charset="2"/>
              </a:rPr>
              <a:t> =Speed Up up to 1 or 2|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 show little up to no speed up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>
                <a:sym typeface="Wingdings" pitchFamily="2" charset="2"/>
              </a:rPr>
              <a:t> For small problem sizes, communication and parallelization overheads dominate the runtime → the overhead is greater than the computational work.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b="1" dirty="0">
              <a:sym typeface="Wingdings" pitchFamily="2" charset="2"/>
            </a:endParaRP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1" dirty="0">
                <a:sym typeface="Wingdings" pitchFamily="2" charset="2"/>
              </a:rPr>
              <a:t>Medium Girds (256, 1024)=Speed Up up to 9|</a:t>
            </a:r>
          </a:p>
          <a:p>
            <a:pPr marL="1714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0" dirty="0">
                <a:sym typeface="Wingdings" pitchFamily="2" charset="2"/>
              </a:rPr>
              <a:t>Ideal speed up for up to 10 cores, after that not ideal speed up  </a:t>
            </a:r>
            <a:r>
              <a:rPr lang="de-DE" b="1" dirty="0"/>
              <a:t>This </a:t>
            </a:r>
            <a:r>
              <a:rPr lang="de-DE" b="1" dirty="0" err="1"/>
              <a:t>shows</a:t>
            </a:r>
            <a:r>
              <a:rPr lang="de-DE" b="1" dirty="0"/>
              <a:t> </a:t>
            </a:r>
            <a:r>
              <a:rPr lang="de-DE" b="1" dirty="0" err="1"/>
              <a:t>that</a:t>
            </a:r>
            <a:r>
              <a:rPr lang="de-DE" b="1" dirty="0"/>
              <a:t> </a:t>
            </a:r>
            <a:r>
              <a:rPr lang="de-DE" b="1" dirty="0" err="1"/>
              <a:t>parallelization</a:t>
            </a:r>
            <a:r>
              <a:rPr lang="de-DE" b="1" dirty="0"/>
              <a:t> </a:t>
            </a:r>
            <a:r>
              <a:rPr lang="de-DE" b="1" dirty="0" err="1"/>
              <a:t>works</a:t>
            </a:r>
            <a:r>
              <a:rPr lang="de-DE" b="1" dirty="0"/>
              <a:t>, but </a:t>
            </a:r>
            <a:r>
              <a:rPr lang="de-DE" b="1" dirty="0" err="1"/>
              <a:t>synchronization</a:t>
            </a:r>
            <a:r>
              <a:rPr lang="de-DE" b="1" dirty="0"/>
              <a:t> and </a:t>
            </a:r>
            <a:r>
              <a:rPr lang="de-DE" b="1" dirty="0" err="1"/>
              <a:t>communication</a:t>
            </a:r>
            <a:r>
              <a:rPr lang="de-DE" b="1" dirty="0"/>
              <a:t> </a:t>
            </a:r>
            <a:r>
              <a:rPr lang="de-DE" b="1" dirty="0" err="1"/>
              <a:t>costs</a:t>
            </a:r>
            <a:r>
              <a:rPr lang="de-DE" b="1" dirty="0"/>
              <a:t> </a:t>
            </a:r>
            <a:r>
              <a:rPr lang="de-DE" b="1" dirty="0" err="1"/>
              <a:t>limit</a:t>
            </a:r>
            <a:r>
              <a:rPr lang="de-DE" b="1" dirty="0"/>
              <a:t> </a:t>
            </a:r>
            <a:r>
              <a:rPr lang="de-DE" b="1" dirty="0" err="1"/>
              <a:t>the</a:t>
            </a:r>
            <a:r>
              <a:rPr lang="de-DE" b="1" dirty="0"/>
              <a:t> </a:t>
            </a:r>
            <a:r>
              <a:rPr lang="de-DE" b="1" dirty="0" err="1"/>
              <a:t>gain</a:t>
            </a:r>
            <a:r>
              <a:rPr lang="de-DE" b="1" dirty="0"/>
              <a:t>.</a:t>
            </a:r>
          </a:p>
          <a:p>
            <a:pPr marL="1714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de-DE" b="1" dirty="0"/>
          </a:p>
          <a:p>
            <a:pPr marL="1714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1" dirty="0"/>
              <a:t>Large Grids(2048, 4096)</a:t>
            </a:r>
            <a:r>
              <a:rPr lang="en-US" b="1" dirty="0">
                <a:sym typeface="Wingdings" pitchFamily="2" charset="2"/>
              </a:rPr>
              <a:t> =Speed Up up to 10 |</a:t>
            </a:r>
          </a:p>
          <a:p>
            <a:pPr marL="1714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0" dirty="0">
                <a:sym typeface="Wingdings" pitchFamily="2" charset="2"/>
              </a:rPr>
              <a:t>Ideal speed up for up to ca 12 cores  </a:t>
            </a:r>
            <a:r>
              <a:rPr lang="en-US" b="1" dirty="0">
                <a:sym typeface="Wingdings" pitchFamily="2" charset="2"/>
              </a:rPr>
              <a:t>Parallelization is most worthwhile for very large problems, but there is still a significant Amdahl limitation (serial components or communication costs slow things down).</a:t>
            </a:r>
          </a:p>
          <a:p>
            <a:pPr marL="171450" marR="0" lvl="1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b="1" dirty="0">
              <a:sym typeface="Wingdings" pitchFamily="2" charset="2"/>
            </a:endParaRP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1" dirty="0">
                <a:sym typeface="Wingdings" pitchFamily="2" charset="2"/>
              </a:rPr>
              <a:t>=&gt; TAKE-AWAYS: STRONG-SCALING: O</a:t>
            </a:r>
            <a:r>
              <a:rPr lang="de-DE" sz="1200" b="1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nly</a:t>
            </a:r>
            <a:r>
              <a:rPr lang="de-DE" sz="1200" b="1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visible </a:t>
            </a:r>
            <a:r>
              <a:rPr lang="de-DE" sz="1200" b="1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with</a:t>
            </a:r>
            <a:r>
              <a:rPr lang="de-DE" sz="1200" b="1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large </a:t>
            </a:r>
            <a:r>
              <a:rPr lang="de-DE" sz="1200" b="1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grids</a:t>
            </a:r>
            <a:r>
              <a:rPr lang="de-DE" sz="1200" b="1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→ </a:t>
            </a:r>
            <a:r>
              <a:rPr lang="de-DE" sz="1200" b="1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small</a:t>
            </a:r>
            <a:r>
              <a:rPr lang="de-DE" sz="1200" b="1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1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grids</a:t>
            </a:r>
            <a:r>
              <a:rPr lang="de-DE" sz="1200" b="1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1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are</a:t>
            </a:r>
            <a:r>
              <a:rPr lang="de-DE" sz="1200" b="1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not </a:t>
            </a:r>
            <a:r>
              <a:rPr lang="de-DE" sz="1200" b="1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worthwhile</a:t>
            </a:r>
            <a:r>
              <a:rPr lang="de-DE" sz="1200" b="1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1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for</a:t>
            </a:r>
            <a:r>
              <a:rPr lang="de-DE" sz="1200" b="1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1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many</a:t>
            </a:r>
            <a:r>
              <a:rPr lang="de-DE" sz="1200" b="1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1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cores</a:t>
            </a:r>
            <a:r>
              <a:rPr lang="de-DE" sz="1200" b="1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.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de-DE" sz="1200" b="1" i="0" u="none" strike="noStrike" dirty="0">
              <a:effectLst/>
              <a:latin typeface="+mj-lt"/>
              <a:ea typeface="+mj-ea"/>
              <a:cs typeface="+mj-cs"/>
              <a:sym typeface="Calibri"/>
            </a:endParaRP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de-DE" sz="1200" b="1" i="0" u="none" strike="noStrike" dirty="0">
              <a:effectLst/>
              <a:latin typeface="+mj-lt"/>
              <a:ea typeface="+mj-ea"/>
              <a:cs typeface="+mj-cs"/>
              <a:sym typeface="Calibri"/>
            </a:endParaRP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1200" b="1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=SUM-UP:  Benefit  </a:t>
            </a:r>
            <a:r>
              <a:rPr lang="de-DE" sz="1200" b="1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of</a:t>
            </a:r>
            <a:r>
              <a:rPr lang="de-DE" sz="1200" b="1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1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parallalisation</a:t>
            </a:r>
            <a:r>
              <a:rPr lang="de-DE" sz="1200" b="1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1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increases</a:t>
            </a:r>
            <a:r>
              <a:rPr lang="de-DE" sz="1200" b="1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1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with</a:t>
            </a:r>
            <a:r>
              <a:rPr lang="de-DE" sz="1200" b="1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1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problem</a:t>
            </a:r>
            <a:r>
              <a:rPr lang="de-DE" sz="1200" b="1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1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size</a:t>
            </a:r>
            <a:r>
              <a:rPr lang="de-DE" sz="1200" b="1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, but </a:t>
            </a:r>
            <a:r>
              <a:rPr lang="de-DE" sz="1200" b="1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is</a:t>
            </a:r>
            <a:r>
              <a:rPr lang="de-DE" sz="1200" b="1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limited </a:t>
            </a:r>
            <a:r>
              <a:rPr lang="de-DE" sz="1200" b="1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by</a:t>
            </a:r>
            <a:r>
              <a:rPr lang="de-DE" sz="1200" b="1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1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Amdahl's</a:t>
            </a:r>
            <a:r>
              <a:rPr lang="de-DE" sz="1200" b="1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Law and </a:t>
            </a:r>
            <a:r>
              <a:rPr lang="de-DE" sz="1200" b="1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communication</a:t>
            </a:r>
            <a:r>
              <a:rPr lang="de-DE" sz="1200" b="1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lang="de-DE" sz="1200" b="1" i="0" u="none" strike="noStrike" dirty="0" err="1">
                <a:effectLst/>
                <a:latin typeface="+mj-lt"/>
                <a:ea typeface="+mj-ea"/>
                <a:cs typeface="+mj-cs"/>
                <a:sym typeface="Calibri"/>
              </a:rPr>
              <a:t>overheads</a:t>
            </a:r>
            <a:r>
              <a:rPr lang="de-DE" sz="1200" b="1" i="0" u="none" strike="noStrike" dirty="0">
                <a:effectLst/>
                <a:latin typeface="+mj-lt"/>
                <a:ea typeface="+mj-ea"/>
                <a:cs typeface="+mj-cs"/>
                <a:sym typeface="Calibri"/>
              </a:rPr>
              <a:t>.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b="1" dirty="0">
              <a:sym typeface="Wingdings" pitchFamily="2" charset="2"/>
            </a:endParaRP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8285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4968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1252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1AAB0-3B43-B6EB-2B77-DBBCD93A3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1CC2252-7662-2C23-4F1C-84F9562DD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3B19C1D-D6AC-8FA3-6A00-7AC22334A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0241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7A2C5-0EE8-93E0-76E8-F0E0EA9C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243EAFE-3E35-3DFE-06EF-E4CDD9297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08B0988-38F4-AF99-E9A3-556A024DC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-! When implementing propagation for inverse run of the HPP (Decryption) </a:t>
            </a:r>
            <a:r>
              <a:rPr lang="en-US" dirty="0">
                <a:sym typeface="Wingdings" pitchFamily="2" charset="2"/>
              </a:rPr>
              <a:t> Separate definition of the rules</a:t>
            </a:r>
            <a:br>
              <a:rPr lang="en-US" dirty="0">
                <a:sym typeface="Wingdings" pitchFamily="2" charset="2"/>
              </a:rPr>
            </a:b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- FORWARD:</a:t>
            </a: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 - Takes a look at the current/ center cell  If there is a North particle set the NORTH-BIT in the up </a:t>
            </a:r>
            <a:r>
              <a:rPr lang="en-US" dirty="0" err="1">
                <a:sym typeface="Wingdings" pitchFamily="2" charset="2"/>
              </a:rPr>
              <a:t>neighbour</a:t>
            </a:r>
            <a:r>
              <a:rPr lang="en-US" dirty="0">
                <a:sym typeface="Wingdings" pitchFamily="2" charset="2"/>
              </a:rPr>
              <a:t> to 1  CLEAR the North bit in the center</a:t>
            </a:r>
            <a:br>
              <a:rPr lang="en-US" dirty="0">
                <a:sym typeface="Wingdings" pitchFamily="2" charset="2"/>
              </a:rPr>
            </a:b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-INVERSE</a:t>
            </a: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 - Takes a look at the up </a:t>
            </a:r>
            <a:r>
              <a:rPr lang="en-US" dirty="0" err="1">
                <a:sym typeface="Wingdings" pitchFamily="2" charset="2"/>
              </a:rPr>
              <a:t>neighbour</a:t>
            </a:r>
            <a:r>
              <a:rPr lang="en-US" dirty="0">
                <a:sym typeface="Wingdings" pitchFamily="2" charset="2"/>
              </a:rPr>
              <a:t>  IF there is an North particle set the NORTH-BIT </a:t>
            </a:r>
            <a:r>
              <a:rPr lang="en-US" b="1" dirty="0">
                <a:sym typeface="Wingdings" pitchFamily="2" charset="2"/>
              </a:rPr>
              <a:t>in the center to 1 </a:t>
            </a:r>
            <a:r>
              <a:rPr lang="en-US" b="0" dirty="0">
                <a:sym typeface="Wingdings" pitchFamily="2" charset="2"/>
              </a:rPr>
              <a:t> CLEAR the NORTH-BIT in the Up cell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980925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D1409-A525-D4CD-E33C-D3FF63DC1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258E20E-2230-E98B-0F03-6AEA00C2E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6E49820-378D-1657-C70F-A6E74946B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ensures that the other information inside the reflected cell (current cell) is not lost!</a:t>
            </a:r>
            <a:br>
              <a:rPr lang="en-US" dirty="0"/>
            </a:br>
            <a:r>
              <a:rPr lang="en-US" dirty="0"/>
              <a:t> - First North: reflected OR North (0000 OR 1000) = reflected (1000)</a:t>
            </a:r>
          </a:p>
          <a:p>
            <a:r>
              <a:rPr lang="en-US" dirty="0"/>
              <a:t> - Second South: reflected OR South(1000 OR 0010) = reflected (1010)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! </a:t>
            </a:r>
            <a:r>
              <a:rPr lang="en-US" dirty="0" err="1"/>
              <a:t>MeTAMASK</a:t>
            </a:r>
            <a:r>
              <a:rPr lang="en-US" dirty="0"/>
              <a:t> are the 4 HIGH-BITS </a:t>
            </a:r>
            <a:r>
              <a:rPr lang="en-US" dirty="0">
                <a:sym typeface="Wingdings" pitchFamily="2" charset="2"/>
              </a:rPr>
              <a:t> AND METAMASK </a:t>
            </a:r>
            <a:r>
              <a:rPr lang="en-US" dirty="0" err="1">
                <a:sym typeface="Wingdings" pitchFamily="2" charset="2"/>
              </a:rPr>
              <a:t>basicly</a:t>
            </a:r>
            <a:r>
              <a:rPr lang="en-US" dirty="0">
                <a:sym typeface="Wingdings" pitchFamily="2" charset="2"/>
              </a:rPr>
              <a:t> transfers the High-bits into the collided or reflected new cell)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Same goes for Collision</a:t>
            </a:r>
            <a:br>
              <a:rPr lang="en-US" dirty="0"/>
            </a:br>
            <a:r>
              <a:rPr lang="en-US" dirty="0"/>
              <a:t>W OR E = 0001 OR 0100 =&gt; 01010</a:t>
            </a:r>
          </a:p>
          <a:p>
            <a:r>
              <a:rPr lang="en-US" dirty="0"/>
              <a:t>IF 1101 == (0100 OR 0001) =&gt; 1101 == 0101 =&gt; FALSE</a:t>
            </a:r>
          </a:p>
        </p:txBody>
      </p:sp>
    </p:spTree>
    <p:extLst>
      <p:ext uri="{BB962C8B-B14F-4D97-AF65-F5344CB8AC3E}">
        <p14:creationId xmlns:p14="http://schemas.microsoft.com/office/powerpoint/2010/main" val="33672135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FBFDC-1DAD-C5B2-21EA-73D5F33F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6692DCF-70AB-D1AA-5C01-52DF1C0AB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3EE2D6D-BA3A-AE2A-AB88-90188A8E3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9226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B6326-7E0F-B6F2-C19E-2655DAECC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BD8F900-4EEC-1983-7DFF-8BABB5C2F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BBC0123-6E74-C215-1743-6BC557691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6334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B8FDD-1DD4-12EC-B819-89410B2CE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0DFB286-845A-979F-3F04-AAFF1ADCC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7CE6F88-1E61-256C-41A9-148987084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6787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646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3"/>
          <p:cNvSpPr/>
          <p:nvPr/>
        </p:nvSpPr>
        <p:spPr>
          <a:xfrm>
            <a:off x="-4044991" y="5378736"/>
            <a:ext cx="7321034" cy="6340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6200" y="21600"/>
                </a:lnTo>
                <a:lnTo>
                  <a:pt x="5400" y="21600"/>
                </a:lnTo>
                <a:lnTo>
                  <a:pt x="0" y="10800"/>
                </a:lnTo>
                <a:lnTo>
                  <a:pt x="5400" y="0"/>
                </a:lnTo>
                <a:lnTo>
                  <a:pt x="16199" y="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545454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7" name="Freeform 5"/>
          <p:cNvSpPr/>
          <p:nvPr/>
        </p:nvSpPr>
        <p:spPr>
          <a:xfrm>
            <a:off x="1400624" y="8389441"/>
            <a:ext cx="4970155" cy="43041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6200" y="21600"/>
                </a:lnTo>
                <a:lnTo>
                  <a:pt x="5400" y="21600"/>
                </a:lnTo>
                <a:lnTo>
                  <a:pt x="0" y="10800"/>
                </a:lnTo>
                <a:lnTo>
                  <a:pt x="5400" y="0"/>
                </a:lnTo>
                <a:lnTo>
                  <a:pt x="16199" y="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0097B2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" name="Freeform 7"/>
          <p:cNvSpPr/>
          <p:nvPr/>
        </p:nvSpPr>
        <p:spPr>
          <a:xfrm>
            <a:off x="-244587" y="8548761"/>
            <a:ext cx="2804709" cy="2428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6200" y="21600"/>
                </a:lnTo>
                <a:lnTo>
                  <a:pt x="5400" y="21600"/>
                </a:lnTo>
                <a:lnTo>
                  <a:pt x="0" y="10800"/>
                </a:lnTo>
                <a:lnTo>
                  <a:pt x="5400" y="0"/>
                </a:lnTo>
                <a:lnTo>
                  <a:pt x="16199" y="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004651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" name="Freeform 9"/>
          <p:cNvSpPr/>
          <p:nvPr/>
        </p:nvSpPr>
        <p:spPr>
          <a:xfrm>
            <a:off x="14034946" y="-377899"/>
            <a:ext cx="3799620" cy="32904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6200" y="21600"/>
                </a:lnTo>
                <a:lnTo>
                  <a:pt x="5400" y="21600"/>
                </a:lnTo>
                <a:lnTo>
                  <a:pt x="0" y="10800"/>
                </a:lnTo>
                <a:lnTo>
                  <a:pt x="5400" y="0"/>
                </a:lnTo>
                <a:lnTo>
                  <a:pt x="16199" y="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5CE1E6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0" name="Freeform 12"/>
          <p:cNvSpPr/>
          <p:nvPr/>
        </p:nvSpPr>
        <p:spPr>
          <a:xfrm>
            <a:off x="15934754" y="-102697"/>
            <a:ext cx="4970155" cy="43041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6200" y="21600"/>
                </a:lnTo>
                <a:lnTo>
                  <a:pt x="5400" y="21600"/>
                </a:lnTo>
                <a:lnTo>
                  <a:pt x="0" y="10800"/>
                </a:lnTo>
                <a:lnTo>
                  <a:pt x="5400" y="0"/>
                </a:lnTo>
                <a:lnTo>
                  <a:pt x="16199" y="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0097B2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1" name="Freeform 18"/>
          <p:cNvSpPr/>
          <p:nvPr/>
        </p:nvSpPr>
        <p:spPr>
          <a:xfrm>
            <a:off x="16120724" y="-550161"/>
            <a:ext cx="2553918" cy="22117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6200" y="21600"/>
                </a:lnTo>
                <a:lnTo>
                  <a:pt x="5400" y="21600"/>
                </a:lnTo>
                <a:lnTo>
                  <a:pt x="0" y="10800"/>
                </a:lnTo>
                <a:lnTo>
                  <a:pt x="5400" y="0"/>
                </a:lnTo>
                <a:lnTo>
                  <a:pt x="16199" y="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2" name="Freeform 19"/>
          <p:cNvSpPr/>
          <p:nvPr/>
        </p:nvSpPr>
        <p:spPr>
          <a:xfrm>
            <a:off x="202287" y="373604"/>
            <a:ext cx="3588378" cy="89840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2551218" y="3886200"/>
            <a:ext cx="6390954" cy="2610115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4000" b="1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4000" b="1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4000" b="1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4000" b="1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4000" b="1">
                <a:solidFill>
                  <a:srgbClr val="888888"/>
                </a:solidFill>
              </a:defRPr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4" name="Titeltext"/>
          <p:cNvSpPr txBox="1">
            <a:spLocks noGrp="1"/>
          </p:cNvSpPr>
          <p:nvPr>
            <p:ph type="title"/>
          </p:nvPr>
        </p:nvSpPr>
        <p:spPr>
          <a:xfrm>
            <a:off x="2542610" y="2089764"/>
            <a:ext cx="11436572" cy="1470026"/>
          </a:xfrm>
          <a:prstGeom prst="rect">
            <a:avLst/>
          </a:prstGeom>
        </p:spPr>
        <p:txBody>
          <a:bodyPr anchor="ctr"/>
          <a:lstStyle>
            <a:lvl1pPr>
              <a:defRPr sz="6700"/>
            </a:lvl1pPr>
          </a:lstStyle>
          <a:p>
            <a:r>
              <a:t>Titeltext</a:t>
            </a:r>
          </a:p>
        </p:txBody>
      </p:sp>
      <p:sp>
        <p:nvSpPr>
          <p:cNvPr id="25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7551505" y="9687611"/>
            <a:ext cx="444348" cy="392471"/>
          </a:xfrm>
          <a:prstGeom prst="rect">
            <a:avLst/>
          </a:prstGeom>
        </p:spPr>
        <p:txBody>
          <a:bodyPr wrap="square"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ru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4"/>
          <p:cNvSpPr/>
          <p:nvPr/>
        </p:nvSpPr>
        <p:spPr>
          <a:xfrm rot="10800000">
            <a:off x="-2492731" y="5280797"/>
            <a:ext cx="4985462" cy="43174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6200" y="21600"/>
                </a:lnTo>
                <a:lnTo>
                  <a:pt x="5400" y="21600"/>
                </a:lnTo>
                <a:lnTo>
                  <a:pt x="0" y="10800"/>
                </a:lnTo>
                <a:lnTo>
                  <a:pt x="5400" y="0"/>
                </a:lnTo>
                <a:lnTo>
                  <a:pt x="16199" y="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A6A6A6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3" name="Freeform 6"/>
          <p:cNvSpPr/>
          <p:nvPr/>
        </p:nvSpPr>
        <p:spPr>
          <a:xfrm rot="10800000">
            <a:off x="2375699" y="8881627"/>
            <a:ext cx="3480309" cy="30139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6200" y="21600"/>
                </a:lnTo>
                <a:lnTo>
                  <a:pt x="5400" y="21600"/>
                </a:lnTo>
                <a:lnTo>
                  <a:pt x="0" y="10800"/>
                </a:lnTo>
                <a:lnTo>
                  <a:pt x="5400" y="0"/>
                </a:lnTo>
                <a:lnTo>
                  <a:pt x="16199" y="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0097B2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4" name="Freeform 8"/>
          <p:cNvSpPr/>
          <p:nvPr/>
        </p:nvSpPr>
        <p:spPr>
          <a:xfrm rot="10800000">
            <a:off x="1476410" y="4293391"/>
            <a:ext cx="1798579" cy="15575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6200" y="21600"/>
                </a:lnTo>
                <a:lnTo>
                  <a:pt x="5400" y="21600"/>
                </a:lnTo>
                <a:lnTo>
                  <a:pt x="0" y="10800"/>
                </a:lnTo>
                <a:lnTo>
                  <a:pt x="5400" y="0"/>
                </a:lnTo>
                <a:lnTo>
                  <a:pt x="16199" y="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5CE1E6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5" name="Freeform 10"/>
          <p:cNvSpPr/>
          <p:nvPr/>
        </p:nvSpPr>
        <p:spPr>
          <a:xfrm rot="10800000">
            <a:off x="300982" y="7795448"/>
            <a:ext cx="3378392" cy="29257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6200" y="21600"/>
                </a:lnTo>
                <a:lnTo>
                  <a:pt x="5400" y="21600"/>
                </a:lnTo>
                <a:lnTo>
                  <a:pt x="0" y="10800"/>
                </a:lnTo>
                <a:lnTo>
                  <a:pt x="5400" y="0"/>
                </a:lnTo>
                <a:lnTo>
                  <a:pt x="16199" y="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545454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6" name="Freeform 26"/>
          <p:cNvSpPr/>
          <p:nvPr/>
        </p:nvSpPr>
        <p:spPr>
          <a:xfrm>
            <a:off x="202287" y="373604"/>
            <a:ext cx="3588378" cy="89840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7" name="TextBox 13"/>
          <p:cNvSpPr txBox="1"/>
          <p:nvPr/>
        </p:nvSpPr>
        <p:spPr>
          <a:xfrm>
            <a:off x="5890132" y="9675385"/>
            <a:ext cx="10337297" cy="408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sz="2400" b="1"/>
            </a:lvl1pPr>
          </a:lstStyle>
          <a:p>
            <a:pPr marL="0" marR="0" lvl="0" indent="0" algn="l" defTabSz="914400" rtl="0" eaLnBrk="1" fontAlgn="auto" latinLnBrk="0" hangingPunc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Samuel Orth and Sebastian Roth | HPP | Parallel Computing 2025 |</a:t>
            </a:r>
            <a:endParaRPr dirty="0"/>
          </a:p>
        </p:txBody>
      </p:sp>
      <p:sp>
        <p:nvSpPr>
          <p:cNvPr id="38" name="Titeltext"/>
          <p:cNvSpPr txBox="1">
            <a:spLocks noGrp="1"/>
          </p:cNvSpPr>
          <p:nvPr>
            <p:ph type="title"/>
          </p:nvPr>
        </p:nvSpPr>
        <p:spPr>
          <a:xfrm>
            <a:off x="5846260" y="1533717"/>
            <a:ext cx="8229601" cy="1143001"/>
          </a:xfrm>
          <a:prstGeom prst="rect">
            <a:avLst/>
          </a:prstGeom>
        </p:spPr>
        <p:txBody>
          <a:bodyPr anchor="ctr"/>
          <a:lstStyle/>
          <a:p>
            <a:r>
              <a:t>Titeltext</a:t>
            </a:r>
          </a:p>
        </p:txBody>
      </p:sp>
      <p:sp>
        <p:nvSpPr>
          <p:cNvPr id="39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5846260" y="2935964"/>
            <a:ext cx="8229601" cy="4525964"/>
          </a:xfrm>
          <a:prstGeom prst="rect">
            <a:avLst/>
          </a:prstGeom>
        </p:spPr>
        <p:txBody>
          <a:bodyPr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0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7715525" y="9689970"/>
            <a:ext cx="413108" cy="39247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3"/>
          <p:cNvSpPr/>
          <p:nvPr/>
        </p:nvSpPr>
        <p:spPr>
          <a:xfrm>
            <a:off x="16269355" y="2564729"/>
            <a:ext cx="2977779" cy="25787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6200" y="21600"/>
                </a:lnTo>
                <a:lnTo>
                  <a:pt x="5400" y="21600"/>
                </a:lnTo>
                <a:lnTo>
                  <a:pt x="0" y="10800"/>
                </a:lnTo>
                <a:lnTo>
                  <a:pt x="5400" y="0"/>
                </a:lnTo>
                <a:lnTo>
                  <a:pt x="16199" y="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004651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8" name="Freeform 5"/>
          <p:cNvSpPr/>
          <p:nvPr/>
        </p:nvSpPr>
        <p:spPr>
          <a:xfrm>
            <a:off x="13660090" y="-135283"/>
            <a:ext cx="4201515" cy="36385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6200" y="21600"/>
                </a:lnTo>
                <a:lnTo>
                  <a:pt x="5400" y="21600"/>
                </a:lnTo>
                <a:lnTo>
                  <a:pt x="0" y="10800"/>
                </a:lnTo>
                <a:lnTo>
                  <a:pt x="5400" y="0"/>
                </a:lnTo>
                <a:lnTo>
                  <a:pt x="16199" y="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545454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" name="Freeform 7"/>
          <p:cNvSpPr/>
          <p:nvPr/>
        </p:nvSpPr>
        <p:spPr>
          <a:xfrm>
            <a:off x="12887846" y="-1292462"/>
            <a:ext cx="3381511" cy="19848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7638" y="21600"/>
                </a:lnTo>
                <a:lnTo>
                  <a:pt x="3962" y="21600"/>
                </a:lnTo>
                <a:lnTo>
                  <a:pt x="0" y="10800"/>
                </a:lnTo>
                <a:lnTo>
                  <a:pt x="3962" y="0"/>
                </a:lnTo>
                <a:lnTo>
                  <a:pt x="17637" y="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0097B2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0" name="Freeform 15"/>
          <p:cNvSpPr/>
          <p:nvPr/>
        </p:nvSpPr>
        <p:spPr>
          <a:xfrm>
            <a:off x="202287" y="373604"/>
            <a:ext cx="3588378" cy="89840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1" name="TextBox 13"/>
          <p:cNvSpPr txBox="1"/>
          <p:nvPr/>
        </p:nvSpPr>
        <p:spPr>
          <a:xfrm>
            <a:off x="123290" y="9675385"/>
            <a:ext cx="1033729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sz="2400" b="1"/>
            </a:lvl1pPr>
          </a:lstStyle>
          <a:p>
            <a:pPr marL="0" marR="0" lvl="0" indent="0" algn="l" defTabSz="914400" rtl="0" eaLnBrk="1" fontAlgn="auto" latinLnBrk="0" hangingPunc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Samuel Orth and Sebastian Roth | HPP | Parallel Computing 2025 |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9280296" y="6156658"/>
            <a:ext cx="12700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</p:txBody>
      </p:sp>
      <p:sp>
        <p:nvSpPr>
          <p:cNvPr id="53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7474449" y="9689970"/>
            <a:ext cx="413108" cy="39247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54" name="Titeltext"/>
          <p:cNvSpPr txBox="1">
            <a:spLocks noGrp="1"/>
          </p:cNvSpPr>
          <p:nvPr>
            <p:ph type="title"/>
          </p:nvPr>
        </p:nvSpPr>
        <p:spPr>
          <a:xfrm>
            <a:off x="675476" y="1515778"/>
            <a:ext cx="12782843" cy="898409"/>
          </a:xfrm>
          <a:prstGeom prst="rect">
            <a:avLst/>
          </a:prstGeom>
        </p:spPr>
        <p:txBody>
          <a:bodyPr anchor="ctr"/>
          <a:lstStyle/>
          <a:p>
            <a:r>
              <a:t>Titeltext</a:t>
            </a:r>
          </a:p>
        </p:txBody>
      </p:sp>
      <p:sp>
        <p:nvSpPr>
          <p:cNvPr id="55" name="Textebene 1…"/>
          <p:cNvSpPr txBox="1">
            <a:spLocks noGrp="1"/>
          </p:cNvSpPr>
          <p:nvPr>
            <p:ph type="body" idx="1"/>
          </p:nvPr>
        </p:nvSpPr>
        <p:spPr>
          <a:xfrm>
            <a:off x="609108" y="2771750"/>
            <a:ext cx="13358272" cy="6649358"/>
          </a:xfrm>
          <a:prstGeom prst="rect">
            <a:avLst/>
          </a:prstGeom>
        </p:spPr>
        <p:txBody>
          <a:bodyPr/>
          <a:lstStyle>
            <a:lvl1pPr marL="342900" indent="-342900"/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lternetiv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reeform 5"/>
          <p:cNvSpPr/>
          <p:nvPr/>
        </p:nvSpPr>
        <p:spPr>
          <a:xfrm>
            <a:off x="14568658" y="1973475"/>
            <a:ext cx="7321034" cy="63400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6200" y="21600"/>
                </a:lnTo>
                <a:lnTo>
                  <a:pt x="5400" y="21600"/>
                </a:lnTo>
                <a:lnTo>
                  <a:pt x="0" y="10800"/>
                </a:lnTo>
                <a:lnTo>
                  <a:pt x="5400" y="0"/>
                </a:lnTo>
                <a:lnTo>
                  <a:pt x="16199" y="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545454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63" name="Freeform 7"/>
          <p:cNvSpPr/>
          <p:nvPr/>
        </p:nvSpPr>
        <p:spPr>
          <a:xfrm>
            <a:off x="12788931" y="6515656"/>
            <a:ext cx="4970154" cy="43041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6200" y="21600"/>
                </a:lnTo>
                <a:lnTo>
                  <a:pt x="5400" y="21600"/>
                </a:lnTo>
                <a:lnTo>
                  <a:pt x="0" y="10800"/>
                </a:lnTo>
                <a:lnTo>
                  <a:pt x="5400" y="0"/>
                </a:lnTo>
                <a:lnTo>
                  <a:pt x="16199" y="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0097B2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64" name="Freeform 9"/>
          <p:cNvSpPr/>
          <p:nvPr/>
        </p:nvSpPr>
        <p:spPr>
          <a:xfrm>
            <a:off x="12669335" y="5568569"/>
            <a:ext cx="2271680" cy="19672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6200" y="21600"/>
                </a:lnTo>
                <a:lnTo>
                  <a:pt x="5400" y="21600"/>
                </a:lnTo>
                <a:lnTo>
                  <a:pt x="0" y="10800"/>
                </a:lnTo>
                <a:lnTo>
                  <a:pt x="5400" y="0"/>
                </a:lnTo>
                <a:lnTo>
                  <a:pt x="16199" y="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004651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65" name="Freeform 11"/>
          <p:cNvSpPr/>
          <p:nvPr/>
        </p:nvSpPr>
        <p:spPr>
          <a:xfrm>
            <a:off x="14057444" y="173808"/>
            <a:ext cx="3799620" cy="32904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6200" y="21600"/>
                </a:lnTo>
                <a:lnTo>
                  <a:pt x="5400" y="21600"/>
                </a:lnTo>
                <a:lnTo>
                  <a:pt x="0" y="10800"/>
                </a:lnTo>
                <a:lnTo>
                  <a:pt x="5400" y="0"/>
                </a:lnTo>
                <a:lnTo>
                  <a:pt x="16199" y="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5CE1E6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66" name="Freeform 14"/>
          <p:cNvSpPr/>
          <p:nvPr/>
        </p:nvSpPr>
        <p:spPr>
          <a:xfrm>
            <a:off x="202287" y="373604"/>
            <a:ext cx="3588378" cy="89840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67" name="TextBox 13"/>
          <p:cNvSpPr txBox="1"/>
          <p:nvPr/>
        </p:nvSpPr>
        <p:spPr>
          <a:xfrm>
            <a:off x="123290" y="9675385"/>
            <a:ext cx="1033729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sz="2400" b="1"/>
            </a:lvl1pPr>
          </a:lstStyle>
          <a:p>
            <a:pPr marL="0" marR="0" lvl="0" indent="0" algn="l" defTabSz="914400" rtl="0" eaLnBrk="1" fontAlgn="auto" latinLnBrk="0" hangingPunc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Samuel Orth and Sebastian Roth | HPP | Parallel Computing 2025 |</a:t>
            </a:r>
          </a:p>
        </p:txBody>
      </p:sp>
      <p:sp>
        <p:nvSpPr>
          <p:cNvPr id="68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7703762" y="9689970"/>
            <a:ext cx="413108" cy="39247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69" name="Textebene 1…"/>
          <p:cNvSpPr txBox="1">
            <a:spLocks noGrp="1"/>
          </p:cNvSpPr>
          <p:nvPr>
            <p:ph type="body" idx="1"/>
          </p:nvPr>
        </p:nvSpPr>
        <p:spPr>
          <a:xfrm>
            <a:off x="640992" y="2770474"/>
            <a:ext cx="12194539" cy="662449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400"/>
              </a:spcBef>
              <a:buSzTx/>
              <a:buFontTx/>
              <a:buNone/>
            </a:lvl1pPr>
            <a:lvl2pPr marL="0" indent="457200">
              <a:spcBef>
                <a:spcPts val="400"/>
              </a:spcBef>
              <a:buSzTx/>
              <a:buFontTx/>
              <a:buNone/>
            </a:lvl2pPr>
            <a:lvl3pPr marL="0" indent="914400">
              <a:spcBef>
                <a:spcPts val="400"/>
              </a:spcBef>
              <a:buSzTx/>
              <a:buFontTx/>
              <a:buNone/>
            </a:lvl3pPr>
            <a:lvl4pPr marL="0" indent="1371600">
              <a:spcBef>
                <a:spcPts val="400"/>
              </a:spcBef>
              <a:buSzTx/>
              <a:buFontTx/>
              <a:buNone/>
            </a:lvl4pPr>
            <a:lvl5pPr marL="0" indent="1828800">
              <a:spcBef>
                <a:spcPts val="400"/>
              </a:spcBef>
              <a:buSzTx/>
              <a:buFontTx/>
              <a:buNone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70" name="Titeltext"/>
          <p:cNvSpPr txBox="1">
            <a:spLocks noGrp="1"/>
          </p:cNvSpPr>
          <p:nvPr>
            <p:ph type="title"/>
          </p:nvPr>
        </p:nvSpPr>
        <p:spPr>
          <a:xfrm>
            <a:off x="514917" y="1566127"/>
            <a:ext cx="12067195" cy="923926"/>
          </a:xfrm>
          <a:prstGeom prst="rect">
            <a:avLst/>
          </a:prstGeom>
        </p:spPr>
        <p:txBody>
          <a:bodyPr anchor="ctr"/>
          <a:lstStyle>
            <a:lvl1pPr>
              <a:defRPr cap="all"/>
            </a:lvl1pPr>
          </a:lstStyle>
          <a:p>
            <a:r>
              <a:t>Titeltext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Placeholder 4"/>
          <p:cNvSpPr>
            <a:spLocks noGrp="1"/>
          </p:cNvSpPr>
          <p:nvPr>
            <p:ph type="body" sz="half" idx="21"/>
          </p:nvPr>
        </p:nvSpPr>
        <p:spPr>
          <a:xfrm>
            <a:off x="9009357" y="1620575"/>
            <a:ext cx="8663026" cy="7364479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/>
            </a:pPr>
            <a:endParaRPr/>
          </a:p>
        </p:txBody>
      </p:sp>
      <p:sp>
        <p:nvSpPr>
          <p:cNvPr id="78" name="Freeform 3"/>
          <p:cNvSpPr/>
          <p:nvPr/>
        </p:nvSpPr>
        <p:spPr>
          <a:xfrm>
            <a:off x="-2043890" y="-2266627"/>
            <a:ext cx="4337076" cy="37563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0"/>
                </a:moveTo>
                <a:lnTo>
                  <a:pt x="5400" y="0"/>
                </a:lnTo>
                <a:lnTo>
                  <a:pt x="0" y="10800"/>
                </a:lnTo>
                <a:lnTo>
                  <a:pt x="5400" y="216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</a:pathLst>
          </a:custGeom>
          <a:solidFill>
            <a:srgbClr val="54545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" name="Freeform 26"/>
          <p:cNvSpPr/>
          <p:nvPr/>
        </p:nvSpPr>
        <p:spPr>
          <a:xfrm>
            <a:off x="14448231" y="255108"/>
            <a:ext cx="3588378" cy="89840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80" name="TextBox 13"/>
          <p:cNvSpPr txBox="1"/>
          <p:nvPr/>
        </p:nvSpPr>
        <p:spPr>
          <a:xfrm>
            <a:off x="123290" y="9675385"/>
            <a:ext cx="1033729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sz="2400" b="1"/>
            </a:lvl1pPr>
          </a:lstStyle>
          <a:p>
            <a:pPr marL="0" marR="0" lvl="0" indent="0" algn="l" defTabSz="914400" rtl="0" eaLnBrk="1" fontAlgn="auto" latinLnBrk="0" hangingPunc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Samuel Orth and Sebastian Roth | HPP | Parallel Computing 2025 |</a:t>
            </a:r>
          </a:p>
        </p:txBody>
      </p:sp>
      <p:sp>
        <p:nvSpPr>
          <p:cNvPr id="81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7562150" y="9689970"/>
            <a:ext cx="413108" cy="39247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82" name="Textebene 1…"/>
          <p:cNvSpPr txBox="1">
            <a:spLocks noGrp="1"/>
          </p:cNvSpPr>
          <p:nvPr>
            <p:ph type="body" sz="half" idx="1"/>
          </p:nvPr>
        </p:nvSpPr>
        <p:spPr>
          <a:xfrm>
            <a:off x="513767" y="1719905"/>
            <a:ext cx="8270592" cy="726810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500"/>
              </a:spcBef>
              <a:buSzTx/>
              <a:buFontTx/>
              <a:buNone/>
            </a:lvl1pPr>
            <a:lvl2pPr marL="0" indent="457200">
              <a:spcBef>
                <a:spcPts val="500"/>
              </a:spcBef>
              <a:buSzTx/>
              <a:buFontTx/>
              <a:buNone/>
            </a:lvl2pPr>
            <a:lvl3pPr marL="0" indent="914400">
              <a:spcBef>
                <a:spcPts val="500"/>
              </a:spcBef>
              <a:buSzTx/>
              <a:buFontTx/>
              <a:buNone/>
            </a:lvl3pPr>
            <a:lvl4pPr marL="0" indent="1371600">
              <a:spcBef>
                <a:spcPts val="500"/>
              </a:spcBef>
              <a:buSzTx/>
              <a:buFontTx/>
              <a:buNone/>
            </a:lvl4pPr>
            <a:lvl5pPr marL="0" indent="1828800">
              <a:spcBef>
                <a:spcPts val="500"/>
              </a:spcBef>
              <a:buSzTx/>
              <a:buFontTx/>
              <a:buNone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83" name="Titeltext"/>
          <p:cNvSpPr txBox="1">
            <a:spLocks noGrp="1"/>
          </p:cNvSpPr>
          <p:nvPr>
            <p:ph type="title"/>
          </p:nvPr>
        </p:nvSpPr>
        <p:spPr>
          <a:xfrm>
            <a:off x="1837649" y="132812"/>
            <a:ext cx="12429071" cy="1143001"/>
          </a:xfrm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Larg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91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938297" y="2177061"/>
            <a:ext cx="9081263" cy="68109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9" name="Textebene 1…"/>
          <p:cNvSpPr txBox="1">
            <a:spLocks noGrp="1"/>
          </p:cNvSpPr>
          <p:nvPr>
            <p:ph type="body" sz="half" idx="1"/>
          </p:nvPr>
        </p:nvSpPr>
        <p:spPr>
          <a:xfrm>
            <a:off x="11017404" y="2177061"/>
            <a:ext cx="6481347" cy="68109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2800"/>
            </a:lvl1pPr>
            <a:lvl2pPr marL="0" indent="457200">
              <a:spcBef>
                <a:spcPts val="300"/>
              </a:spcBef>
              <a:buSzTx/>
              <a:buFontTx/>
              <a:buNone/>
              <a:defRPr sz="2800"/>
            </a:lvl2pPr>
            <a:lvl3pPr marL="0" indent="914400">
              <a:spcBef>
                <a:spcPts val="300"/>
              </a:spcBef>
              <a:buSzTx/>
              <a:buFontTx/>
              <a:buNone/>
              <a:defRPr sz="2800"/>
            </a:lvl3pPr>
            <a:lvl4pPr marL="0" indent="1371600">
              <a:spcBef>
                <a:spcPts val="300"/>
              </a:spcBef>
              <a:buSzTx/>
              <a:buFontTx/>
              <a:buNone/>
              <a:defRPr sz="2800"/>
            </a:lvl4pPr>
            <a:lvl5pPr marL="0" indent="1828800">
              <a:spcBef>
                <a:spcPts val="300"/>
              </a:spcBef>
              <a:buSzTx/>
              <a:buFontTx/>
              <a:buNone/>
              <a:defRPr sz="2800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00" name="Freeform 3"/>
          <p:cNvSpPr/>
          <p:nvPr/>
        </p:nvSpPr>
        <p:spPr>
          <a:xfrm>
            <a:off x="-2043890" y="-2266627"/>
            <a:ext cx="4337076" cy="37563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0"/>
                </a:moveTo>
                <a:lnTo>
                  <a:pt x="5400" y="0"/>
                </a:lnTo>
                <a:lnTo>
                  <a:pt x="0" y="10800"/>
                </a:lnTo>
                <a:lnTo>
                  <a:pt x="5400" y="216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</a:pathLst>
          </a:custGeom>
          <a:solidFill>
            <a:srgbClr val="54545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" name="Freeform 26"/>
          <p:cNvSpPr/>
          <p:nvPr/>
        </p:nvSpPr>
        <p:spPr>
          <a:xfrm>
            <a:off x="14448231" y="255108"/>
            <a:ext cx="3588378" cy="89840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02" name="TextBox 13"/>
          <p:cNvSpPr txBox="1"/>
          <p:nvPr/>
        </p:nvSpPr>
        <p:spPr>
          <a:xfrm>
            <a:off x="123290" y="9675385"/>
            <a:ext cx="1033729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sz="2400" b="1"/>
            </a:lvl1pPr>
          </a:lstStyle>
          <a:p>
            <a:pPr marL="0" marR="0" lvl="0" indent="0" algn="l" defTabSz="914400" rtl="0" eaLnBrk="1" fontAlgn="auto" latinLnBrk="0" hangingPunc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Samuel Orth and Sebastian Roth | HPP | Parallel Computing 2025 |</a:t>
            </a:r>
          </a:p>
        </p:txBody>
      </p:sp>
      <p:sp>
        <p:nvSpPr>
          <p:cNvPr id="103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7659409" y="9689970"/>
            <a:ext cx="413109" cy="39247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104" name="Titeltext"/>
          <p:cNvSpPr txBox="1">
            <a:spLocks noGrp="1"/>
          </p:cNvSpPr>
          <p:nvPr>
            <p:ph type="title"/>
          </p:nvPr>
        </p:nvSpPr>
        <p:spPr>
          <a:xfrm>
            <a:off x="1871929" y="-81061"/>
            <a:ext cx="11911834" cy="1570746"/>
          </a:xfrm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reeform 5"/>
          <p:cNvSpPr/>
          <p:nvPr/>
        </p:nvSpPr>
        <p:spPr>
          <a:xfrm>
            <a:off x="14568658" y="1973475"/>
            <a:ext cx="7321034" cy="63400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6200" y="21600"/>
                </a:lnTo>
                <a:lnTo>
                  <a:pt x="5400" y="21600"/>
                </a:lnTo>
                <a:lnTo>
                  <a:pt x="0" y="10800"/>
                </a:lnTo>
                <a:lnTo>
                  <a:pt x="5400" y="0"/>
                </a:lnTo>
                <a:lnTo>
                  <a:pt x="16199" y="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545454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12" name="Freeform 7"/>
          <p:cNvSpPr/>
          <p:nvPr/>
        </p:nvSpPr>
        <p:spPr>
          <a:xfrm>
            <a:off x="12788931" y="6515656"/>
            <a:ext cx="4970154" cy="43041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6200" y="21600"/>
                </a:lnTo>
                <a:lnTo>
                  <a:pt x="5400" y="21600"/>
                </a:lnTo>
                <a:lnTo>
                  <a:pt x="0" y="10800"/>
                </a:lnTo>
                <a:lnTo>
                  <a:pt x="5400" y="0"/>
                </a:lnTo>
                <a:lnTo>
                  <a:pt x="16199" y="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0097B2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13" name="Freeform 9"/>
          <p:cNvSpPr/>
          <p:nvPr/>
        </p:nvSpPr>
        <p:spPr>
          <a:xfrm>
            <a:off x="12669335" y="5568569"/>
            <a:ext cx="2271680" cy="19672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6200" y="21600"/>
                </a:lnTo>
                <a:lnTo>
                  <a:pt x="5400" y="21600"/>
                </a:lnTo>
                <a:lnTo>
                  <a:pt x="0" y="10800"/>
                </a:lnTo>
                <a:lnTo>
                  <a:pt x="5400" y="0"/>
                </a:lnTo>
                <a:lnTo>
                  <a:pt x="16199" y="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004651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14" name="Freeform 11"/>
          <p:cNvSpPr/>
          <p:nvPr/>
        </p:nvSpPr>
        <p:spPr>
          <a:xfrm>
            <a:off x="14057444" y="173808"/>
            <a:ext cx="3799620" cy="32904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6200" y="21600"/>
                </a:lnTo>
                <a:lnTo>
                  <a:pt x="5400" y="21600"/>
                </a:lnTo>
                <a:lnTo>
                  <a:pt x="0" y="10800"/>
                </a:lnTo>
                <a:lnTo>
                  <a:pt x="5400" y="0"/>
                </a:lnTo>
                <a:lnTo>
                  <a:pt x="16199" y="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5CE1E6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15" name="Freeform 14"/>
          <p:cNvSpPr/>
          <p:nvPr/>
        </p:nvSpPr>
        <p:spPr>
          <a:xfrm>
            <a:off x="202287" y="373604"/>
            <a:ext cx="3588378" cy="89840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16" name="TextBox 13"/>
          <p:cNvSpPr txBox="1"/>
          <p:nvPr/>
        </p:nvSpPr>
        <p:spPr>
          <a:xfrm>
            <a:off x="123290" y="9675385"/>
            <a:ext cx="1033729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sz="2400" b="1"/>
            </a:lvl1pPr>
          </a:lstStyle>
          <a:p>
            <a:pPr marL="0" marR="0" lvl="0" indent="0" algn="l" defTabSz="914400" rtl="0" eaLnBrk="1" fontAlgn="auto" latinLnBrk="0" hangingPunc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Samuel Orth and Sebastian Roth | HPP | Parallel Computing 2025 |</a:t>
            </a:r>
          </a:p>
        </p:txBody>
      </p:sp>
      <p:sp>
        <p:nvSpPr>
          <p:cNvPr id="117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7703762" y="9689970"/>
            <a:ext cx="413108" cy="39247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118" name="Textebene 1…"/>
          <p:cNvSpPr txBox="1">
            <a:spLocks noGrp="1"/>
          </p:cNvSpPr>
          <p:nvPr>
            <p:ph type="body" idx="1"/>
          </p:nvPr>
        </p:nvSpPr>
        <p:spPr>
          <a:xfrm>
            <a:off x="640992" y="2770474"/>
            <a:ext cx="12194539" cy="662449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400"/>
              </a:spcBef>
              <a:buSzTx/>
              <a:buFontTx/>
              <a:buNone/>
            </a:lvl1pPr>
            <a:lvl2pPr marL="0" indent="457200">
              <a:spcBef>
                <a:spcPts val="400"/>
              </a:spcBef>
              <a:buSzTx/>
              <a:buFontTx/>
              <a:buNone/>
            </a:lvl2pPr>
            <a:lvl3pPr marL="0" indent="914400">
              <a:spcBef>
                <a:spcPts val="400"/>
              </a:spcBef>
              <a:buSzTx/>
              <a:buFontTx/>
              <a:buNone/>
            </a:lvl3pPr>
            <a:lvl4pPr marL="0" indent="1371600">
              <a:spcBef>
                <a:spcPts val="400"/>
              </a:spcBef>
              <a:buSzTx/>
              <a:buFontTx/>
              <a:buNone/>
            </a:lvl4pPr>
            <a:lvl5pPr marL="0" indent="1828800">
              <a:spcBef>
                <a:spcPts val="400"/>
              </a:spcBef>
              <a:buSzTx/>
              <a:buFontTx/>
              <a:buNone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19" name="Titeltext"/>
          <p:cNvSpPr txBox="1">
            <a:spLocks noGrp="1"/>
          </p:cNvSpPr>
          <p:nvPr>
            <p:ph type="title"/>
          </p:nvPr>
        </p:nvSpPr>
        <p:spPr>
          <a:xfrm>
            <a:off x="514917" y="1566127"/>
            <a:ext cx="12067195" cy="923926"/>
          </a:xfrm>
          <a:prstGeom prst="rect">
            <a:avLst/>
          </a:prstGeom>
        </p:spPr>
        <p:txBody>
          <a:bodyPr anchor="ctr"/>
          <a:lstStyle>
            <a:lvl1pPr>
              <a:defRPr cap="all"/>
            </a:lvl1pPr>
          </a:lstStyle>
          <a:p>
            <a:r>
              <a:t>Titeltext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reeform 3"/>
          <p:cNvSpPr/>
          <p:nvPr/>
        </p:nvSpPr>
        <p:spPr>
          <a:xfrm rot="10800000">
            <a:off x="-3211248" y="-1160104"/>
            <a:ext cx="14989390" cy="12607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6200" y="21600"/>
                </a:lnTo>
                <a:lnTo>
                  <a:pt x="5400" y="21600"/>
                </a:lnTo>
                <a:lnTo>
                  <a:pt x="0" y="10800"/>
                </a:lnTo>
                <a:lnTo>
                  <a:pt x="5400" y="0"/>
                </a:lnTo>
                <a:lnTo>
                  <a:pt x="16199" y="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004651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27" name="Freeform 5"/>
          <p:cNvSpPr/>
          <p:nvPr/>
        </p:nvSpPr>
        <p:spPr>
          <a:xfrm rot="10800000">
            <a:off x="6786775" y="-286120"/>
            <a:ext cx="5276949" cy="45698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lnTo>
                  <a:pt x="16200" y="21600"/>
                </a:lnTo>
                <a:lnTo>
                  <a:pt x="5400" y="21600"/>
                </a:lnTo>
                <a:lnTo>
                  <a:pt x="0" y="10800"/>
                </a:lnTo>
                <a:lnTo>
                  <a:pt x="5400" y="0"/>
                </a:lnTo>
                <a:lnTo>
                  <a:pt x="16199" y="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0097B2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28" name="Freeform 27"/>
          <p:cNvSpPr/>
          <p:nvPr/>
        </p:nvSpPr>
        <p:spPr>
          <a:xfrm>
            <a:off x="14430753" y="221597"/>
            <a:ext cx="3588378" cy="89840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29" name="TextBox 13"/>
          <p:cNvSpPr txBox="1"/>
          <p:nvPr/>
        </p:nvSpPr>
        <p:spPr>
          <a:xfrm>
            <a:off x="123290" y="9675385"/>
            <a:ext cx="1033729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sz="2400" b="1"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Samuel Orth and Sebastian Roth | HPP | Parallel Computing 2025 |</a:t>
            </a:r>
          </a:p>
        </p:txBody>
      </p:sp>
      <p:sp>
        <p:nvSpPr>
          <p:cNvPr id="130" name="Titeltext"/>
          <p:cNvSpPr txBox="1">
            <a:spLocks noGrp="1"/>
          </p:cNvSpPr>
          <p:nvPr>
            <p:ph type="title"/>
          </p:nvPr>
        </p:nvSpPr>
        <p:spPr>
          <a:xfrm>
            <a:off x="595254" y="543396"/>
            <a:ext cx="6663045" cy="2524792"/>
          </a:xfrm>
          <a:prstGeom prst="rect">
            <a:avLst/>
          </a:prstGeom>
        </p:spPr>
        <p:txBody>
          <a:bodyPr anchor="ctr"/>
          <a:lstStyle>
            <a:lvl1pPr>
              <a:defRPr cap="all">
                <a:solidFill>
                  <a:srgbClr val="FFFFFF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131" name="Textebene 1…"/>
          <p:cNvSpPr txBox="1">
            <a:spLocks noGrp="1"/>
          </p:cNvSpPr>
          <p:nvPr>
            <p:ph type="body" sz="half" idx="1"/>
          </p:nvPr>
        </p:nvSpPr>
        <p:spPr>
          <a:xfrm>
            <a:off x="640992" y="2336767"/>
            <a:ext cx="6437205" cy="662448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400"/>
              </a:spcBef>
              <a:buSzTx/>
              <a:buFontTx/>
              <a:buNone/>
              <a:defRPr>
                <a:solidFill>
                  <a:srgbClr val="FFFFFF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>
                <a:solidFill>
                  <a:srgbClr val="FFFFFF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>
                <a:solidFill>
                  <a:srgbClr val="FFFFFF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>
                <a:solidFill>
                  <a:srgbClr val="FFFFFF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>
                <a:solidFill>
                  <a:srgbClr val="FFFFFF"/>
                </a:solidFill>
              </a:defRPr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32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7703762" y="9689970"/>
            <a:ext cx="413108" cy="39247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/>
          <p:cNvSpPr/>
          <p:nvPr/>
        </p:nvSpPr>
        <p:spPr>
          <a:xfrm>
            <a:off x="-2043890" y="-2266627"/>
            <a:ext cx="4337076" cy="37563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0"/>
                </a:moveTo>
                <a:lnTo>
                  <a:pt x="5400" y="0"/>
                </a:lnTo>
                <a:lnTo>
                  <a:pt x="0" y="10800"/>
                </a:lnTo>
                <a:lnTo>
                  <a:pt x="5400" y="216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</a:pathLst>
          </a:custGeom>
          <a:solidFill>
            <a:srgbClr val="54545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" name="Freeform 26"/>
          <p:cNvSpPr/>
          <p:nvPr/>
        </p:nvSpPr>
        <p:spPr>
          <a:xfrm>
            <a:off x="14448231" y="255108"/>
            <a:ext cx="3588378" cy="898409"/>
          </a:xfrm>
          <a:prstGeom prst="rect">
            <a:avLst/>
          </a:prstGeom>
          <a:blipFill>
            <a:blip r:embed="rId11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" name="TextBox 13"/>
          <p:cNvSpPr txBox="1"/>
          <p:nvPr/>
        </p:nvSpPr>
        <p:spPr>
          <a:xfrm>
            <a:off x="123290" y="9675385"/>
            <a:ext cx="1033729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sz="2400" b="1"/>
            </a:lvl1pPr>
          </a:lstStyle>
          <a:p>
            <a:r>
              <a:t>Sebastian Roth - </a:t>
            </a:r>
          </a:p>
        </p:txBody>
      </p:sp>
      <p:sp>
        <p:nvSpPr>
          <p:cNvPr id="5" name="Freeform 3"/>
          <p:cNvSpPr/>
          <p:nvPr/>
        </p:nvSpPr>
        <p:spPr>
          <a:xfrm>
            <a:off x="-2043890" y="-2266627"/>
            <a:ext cx="4337076" cy="37563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0"/>
                </a:moveTo>
                <a:lnTo>
                  <a:pt x="5400" y="0"/>
                </a:lnTo>
                <a:lnTo>
                  <a:pt x="0" y="10800"/>
                </a:lnTo>
                <a:lnTo>
                  <a:pt x="5400" y="216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</a:pathLst>
          </a:custGeom>
          <a:solidFill>
            <a:srgbClr val="54545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" name="Freeform 26"/>
          <p:cNvSpPr/>
          <p:nvPr/>
        </p:nvSpPr>
        <p:spPr>
          <a:xfrm>
            <a:off x="14448231" y="255108"/>
            <a:ext cx="3588378" cy="898409"/>
          </a:xfrm>
          <a:prstGeom prst="rect">
            <a:avLst/>
          </a:prstGeom>
          <a:blipFill>
            <a:blip r:embed="rId11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7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7736651" y="9689970"/>
            <a:ext cx="413108" cy="39247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4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8" name="Titeltext"/>
          <p:cNvSpPr txBox="1">
            <a:spLocks noGrp="1"/>
          </p:cNvSpPr>
          <p:nvPr>
            <p:ph type="title"/>
          </p:nvPr>
        </p:nvSpPr>
        <p:spPr>
          <a:xfrm>
            <a:off x="1934516" y="264862"/>
            <a:ext cx="12084631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normAutofit/>
          </a:bodyPr>
          <a:lstStyle/>
          <a:p>
            <a:r>
              <a:t>Titeltext</a:t>
            </a:r>
          </a:p>
        </p:txBody>
      </p:sp>
      <p:sp>
        <p:nvSpPr>
          <p:cNvPr id="9" name="Textebene 1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hf hdr="0" dt="0"/>
  <p:txStyles>
    <p:titleStyle>
      <a:lvl1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ebClone/HPP_CA" TargetMode="Externa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ellular_automaton" TargetMode="External"/><Relationship Id="rId2" Type="http://schemas.openxmlformats.org/officeDocument/2006/relationships/hyperlink" Target="https://arxiv.org/abs/1306.1519" TargetMode="Externa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Zum Bearbeiten doppelklicken"/>
          <p:cNvSpPr txBox="1">
            <a:spLocks noGrp="1"/>
          </p:cNvSpPr>
          <p:nvPr>
            <p:ph type="subTitle" sz="quarter" idx="1"/>
          </p:nvPr>
        </p:nvSpPr>
        <p:spPr>
          <a:xfrm>
            <a:off x="2542610" y="3559790"/>
            <a:ext cx="12881616" cy="261011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/>
              <a:t>An encryption algorithm in C++ with MPI and OMP</a:t>
            </a:r>
          </a:p>
          <a:p>
            <a:r>
              <a:rPr lang="en-US" dirty="0"/>
              <a:t>Done by Samuel Orth and Sebastian Roth</a:t>
            </a:r>
            <a:br>
              <a:rPr lang="en-US" dirty="0"/>
            </a:br>
            <a:r>
              <a:rPr lang="en-US" dirty="0"/>
              <a:t>Master Applied Physics</a:t>
            </a:r>
            <a:br>
              <a:rPr lang="en-US" dirty="0"/>
            </a:br>
            <a:r>
              <a:rPr lang="en-US" dirty="0"/>
              <a:t>Parallel Computing SS2025 by Prof. Dr. Jens Georg Schmidt</a:t>
            </a:r>
            <a:endParaRPr dirty="0"/>
          </a:p>
        </p:txBody>
      </p:sp>
      <p:sp>
        <p:nvSpPr>
          <p:cNvPr id="142" name="Zum Bearbeiten doppelklicken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HPP-Cellular Automata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0D7DAB-B4A0-F432-1D09-9BAC5DB8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of Content	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DFF811B-819A-E0D3-0336-BC2120BB7D6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Definition of Cellular </a:t>
            </a:r>
            <a:r>
              <a:rPr lang="en-US" dirty="0" err="1"/>
              <a:t>Atomata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HPP-Algorithm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Parallelization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Results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F95D5A2-85A2-CFAC-B0E8-0EF60D8FCA3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770744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5F4AD4A-7D7F-2F5C-5D55-78ACAEA38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Cellular-</a:t>
            </a:r>
            <a:r>
              <a:rPr lang="en-US" dirty="0" err="1"/>
              <a:t>Automa</a:t>
            </a:r>
            <a:r>
              <a:rPr lang="en-US" dirty="0"/>
              <a:t> Definition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C71E6F6-F871-9804-7F96-A2F469CF3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Discrete computational model consisting of a finite grid (lattice) of cells</a:t>
            </a:r>
          </a:p>
          <a:p>
            <a:pPr lvl="1"/>
            <a:r>
              <a:rPr lang="en-US" dirty="0"/>
              <a:t>Each cell has a finite number of states</a:t>
            </a:r>
          </a:p>
          <a:p>
            <a:r>
              <a:rPr lang="en-US" dirty="0"/>
              <a:t>N dimensional (Typically 1D or 2D)</a:t>
            </a:r>
          </a:p>
          <a:p>
            <a:r>
              <a:rPr lang="en-US" dirty="0"/>
              <a:t>Well defined neighborhood</a:t>
            </a:r>
          </a:p>
          <a:p>
            <a:pPr lvl="1"/>
            <a:r>
              <a:rPr lang="en-US" dirty="0"/>
              <a:t>Van Neumann or Moor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Hard </a:t>
            </a:r>
            <a:r>
              <a:rPr lang="en-US" dirty="0" err="1"/>
              <a:t>boundarys</a:t>
            </a:r>
            <a:r>
              <a:rPr lang="en-US" dirty="0"/>
              <a:t> or toroidal 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D0F64AAC-62B4-EF4D-879D-D9CC864F500A}"/>
              </a:ext>
            </a:extLst>
          </p:cNvPr>
          <p:cNvGrpSpPr/>
          <p:nvPr/>
        </p:nvGrpSpPr>
        <p:grpSpPr>
          <a:xfrm>
            <a:off x="10783614" y="5347663"/>
            <a:ext cx="5002907" cy="2749228"/>
            <a:chOff x="10750923" y="5197288"/>
            <a:chExt cx="4018429" cy="2181997"/>
          </a:xfrm>
        </p:grpSpPr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1389BB7C-C0B4-37B1-336E-286D217F79FB}"/>
                </a:ext>
              </a:extLst>
            </p:cNvPr>
            <p:cNvGrpSpPr/>
            <p:nvPr/>
          </p:nvGrpSpPr>
          <p:grpSpPr>
            <a:xfrm>
              <a:off x="10750923" y="5197288"/>
              <a:ext cx="4018429" cy="1905000"/>
              <a:chOff x="10542494" y="5143500"/>
              <a:chExt cx="4018429" cy="1905000"/>
            </a:xfrm>
          </p:grpSpPr>
          <p:pic>
            <p:nvPicPr>
              <p:cNvPr id="9" name="Grafik 8">
                <a:extLst>
                  <a:ext uri="{FF2B5EF4-FFF2-40B4-BE49-F238E27FC236}">
                    <a16:creationId xmlns:a16="http://schemas.microsoft.com/office/drawing/2014/main" id="{E47A957B-C5E4-0857-14C4-B041790ABB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542494" y="5143500"/>
                <a:ext cx="1905000" cy="1905000"/>
              </a:xfrm>
              <a:prstGeom prst="rect">
                <a:avLst/>
              </a:prstGeom>
            </p:spPr>
          </p:pic>
          <p:pic>
            <p:nvPicPr>
              <p:cNvPr id="11" name="Grafik 10">
                <a:extLst>
                  <a:ext uri="{FF2B5EF4-FFF2-40B4-BE49-F238E27FC236}">
                    <a16:creationId xmlns:a16="http://schemas.microsoft.com/office/drawing/2014/main" id="{26C07E90-9598-6936-05BC-B0E8C34312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655923" y="5143500"/>
                <a:ext cx="1905000" cy="1905000"/>
              </a:xfrm>
              <a:prstGeom prst="rect">
                <a:avLst/>
              </a:prstGeom>
            </p:spPr>
          </p:pic>
        </p:grp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6770FA1E-CEDE-55AF-F9AD-52233105A6EF}"/>
                </a:ext>
              </a:extLst>
            </p:cNvPr>
            <p:cNvSpPr txBox="1"/>
            <p:nvPr/>
          </p:nvSpPr>
          <p:spPr>
            <a:xfrm>
              <a:off x="10750923" y="7102288"/>
              <a:ext cx="4018429" cy="276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rPr>
                <a:t>Moor and van Neumann neighborhood [3]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A57958-C1C5-374D-217E-08282636F4B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868393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D5F970-BF0C-E7AA-B2DE-8B4A7207E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HPP-CA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2BBBDB-62A1-0836-9F1C-A1DD56379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Lattice-Gas Cellular Automata (LGCA) from </a:t>
            </a:r>
            <a:r>
              <a:rPr lang="en-US" b="1" dirty="0"/>
              <a:t>H</a:t>
            </a:r>
            <a:r>
              <a:rPr lang="en-US" dirty="0"/>
              <a:t>ardy, </a:t>
            </a:r>
            <a:r>
              <a:rPr lang="en-US" b="1" dirty="0" err="1"/>
              <a:t>P</a:t>
            </a:r>
            <a:r>
              <a:rPr lang="en-US" dirty="0" err="1"/>
              <a:t>omeau</a:t>
            </a:r>
            <a:r>
              <a:rPr lang="en-US" dirty="0"/>
              <a:t> and </a:t>
            </a:r>
            <a:r>
              <a:rPr lang="en-US" b="1" dirty="0" err="1"/>
              <a:t>P</a:t>
            </a:r>
            <a:r>
              <a:rPr lang="en-US" dirty="0" err="1"/>
              <a:t>azzis</a:t>
            </a:r>
            <a:r>
              <a:rPr lang="en-US" dirty="0"/>
              <a:t> (1973)</a:t>
            </a:r>
          </a:p>
          <a:p>
            <a:r>
              <a:rPr lang="en-US" dirty="0"/>
              <a:t>Symmetrical behavior: used for cryptography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HPP</a:t>
            </a:r>
          </a:p>
          <a:p>
            <a:r>
              <a:rPr lang="en-US" dirty="0"/>
              <a:t>2D lattice with van Neumann neighborhood and toroidal character </a:t>
            </a:r>
          </a:p>
          <a:p>
            <a:r>
              <a:rPr lang="en-US" dirty="0"/>
              <a:t>There are 16 set of states per cell</a:t>
            </a:r>
            <a:br>
              <a:rPr lang="en-US" dirty="0"/>
            </a:br>
            <a:r>
              <a:rPr lang="en-US" dirty="0"/>
              <a:t>Each cell can hold one of each particle</a:t>
            </a:r>
          </a:p>
          <a:p>
            <a:r>
              <a:rPr lang="en-US" dirty="0"/>
              <a:t>Fixed set of Rules</a:t>
            </a:r>
          </a:p>
          <a:p>
            <a:endParaRPr lang="en-US" dirty="0"/>
          </a:p>
        </p:txBody>
      </p:sp>
      <p:pic>
        <p:nvPicPr>
          <p:cNvPr id="5" name="Grafik 4" descr="Ein Bild, das Screenshot, Kreis, Electric Blue (Farbe), Grafiken enthält.&#10;&#10;KI-generierte Inhalte können fehlerhaft sein.">
            <a:extLst>
              <a:ext uri="{FF2B5EF4-FFF2-40B4-BE49-F238E27FC236}">
                <a16:creationId xmlns:a16="http://schemas.microsoft.com/office/drawing/2014/main" id="{334BADAA-0804-4E6F-81A6-8D8ECE0F5E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7128" y="4985491"/>
            <a:ext cx="4151151" cy="413283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FB06173-FFC4-5FF7-E16F-A250328636E5}"/>
              </a:ext>
            </a:extLst>
          </p:cNvPr>
          <p:cNvSpPr txBox="1"/>
          <p:nvPr/>
        </p:nvSpPr>
        <p:spPr>
          <a:xfrm>
            <a:off x="4766982" y="4313375"/>
            <a:ext cx="9654988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974657-10C7-5324-3153-C3E95FDFB3E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781042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163DA2-99B1-6BA2-2DB9-C19CB41D7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Datatype usage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CB08A1-7620-B506-5A83-D13B635C1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is converted into binary (uint8_t)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Low-Bit is translated to the particles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FE9061"/>
                </a:solidFill>
              </a:rPr>
              <a:t>K-Bit </a:t>
            </a:r>
            <a:r>
              <a:rPr lang="en-US" dirty="0">
                <a:solidFill>
                  <a:schemeClr val="tx1"/>
                </a:solidFill>
              </a:rPr>
              <a:t>is the encryption key</a:t>
            </a:r>
            <a:endParaRPr lang="en-US" dirty="0">
              <a:solidFill>
                <a:srgbClr val="FE9061"/>
              </a:solidFill>
            </a:endParaRPr>
          </a:p>
        </p:txBody>
      </p:sp>
      <p:pic>
        <p:nvPicPr>
          <p:cNvPr id="5" name="Grafik 4" descr="Ein Bild, das Symbol, Schrift, Grafiken, Design enthält.&#10;&#10;KI-generierte Inhalte können fehlerhaft sein.">
            <a:extLst>
              <a:ext uri="{FF2B5EF4-FFF2-40B4-BE49-F238E27FC236}">
                <a16:creationId xmlns:a16="http://schemas.microsoft.com/office/drawing/2014/main" id="{9C29A843-735C-8DF7-C3FA-23F2F4986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95" r="15386"/>
          <a:stretch>
            <a:fillRect/>
          </a:stretch>
        </p:blipFill>
        <p:spPr>
          <a:xfrm>
            <a:off x="7678271" y="2578296"/>
            <a:ext cx="2464195" cy="1142377"/>
          </a:xfrm>
          <a:prstGeom prst="rect">
            <a:avLst/>
          </a:prstGeom>
        </p:spPr>
      </p:pic>
      <p:pic>
        <p:nvPicPr>
          <p:cNvPr id="8" name="Grafik 7" descr="Ein Bild, das Screenshot, Raum, Dunkelheit, Kreis enthält.&#10;&#10;KI-generierte Inhalte können fehlerhaft sein.">
            <a:extLst>
              <a:ext uri="{FF2B5EF4-FFF2-40B4-BE49-F238E27FC236}">
                <a16:creationId xmlns:a16="http://schemas.microsoft.com/office/drawing/2014/main" id="{D3A2C29C-2AE4-5578-32F5-3EDA887F84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57"/>
          <a:stretch>
            <a:fillRect/>
          </a:stretch>
        </p:blipFill>
        <p:spPr>
          <a:xfrm>
            <a:off x="892389" y="4436003"/>
            <a:ext cx="6806052" cy="1989532"/>
          </a:xfrm>
          <a:prstGeom prst="rect">
            <a:avLst/>
          </a:prstGeom>
        </p:spPr>
      </p:pic>
      <p:pic>
        <p:nvPicPr>
          <p:cNvPr id="10" name="Grafik 9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897167FE-D660-9A91-9ACA-2A46BBD747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08"/>
          <a:stretch>
            <a:fillRect/>
          </a:stretch>
        </p:blipFill>
        <p:spPr>
          <a:xfrm>
            <a:off x="892389" y="7140865"/>
            <a:ext cx="6525154" cy="1989532"/>
          </a:xfrm>
          <a:prstGeom prst="rect">
            <a:avLst/>
          </a:prstGeom>
        </p:spPr>
      </p:pic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2D1C6B2F-1764-3EA1-9A21-917679E4E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05564"/>
              </p:ext>
            </p:extLst>
          </p:nvPr>
        </p:nvGraphicFramePr>
        <p:xfrm>
          <a:off x="9406218" y="3791607"/>
          <a:ext cx="6806051" cy="5936996"/>
        </p:xfrm>
        <a:graphic>
          <a:graphicData uri="http://schemas.openxmlformats.org/drawingml/2006/table">
            <a:tbl>
              <a:tblPr/>
              <a:tblGrid>
                <a:gridCol w="1427302">
                  <a:extLst>
                    <a:ext uri="{9D8B030D-6E8A-4147-A177-3AD203B41FA5}">
                      <a16:colId xmlns:a16="http://schemas.microsoft.com/office/drawing/2014/main" val="2712153211"/>
                    </a:ext>
                  </a:extLst>
                </a:gridCol>
                <a:gridCol w="1427302">
                  <a:extLst>
                    <a:ext uri="{9D8B030D-6E8A-4147-A177-3AD203B41FA5}">
                      <a16:colId xmlns:a16="http://schemas.microsoft.com/office/drawing/2014/main" val="3048992913"/>
                    </a:ext>
                  </a:extLst>
                </a:gridCol>
                <a:gridCol w="1427302">
                  <a:extLst>
                    <a:ext uri="{9D8B030D-6E8A-4147-A177-3AD203B41FA5}">
                      <a16:colId xmlns:a16="http://schemas.microsoft.com/office/drawing/2014/main" val="210042829"/>
                    </a:ext>
                  </a:extLst>
                </a:gridCol>
                <a:gridCol w="2524145">
                  <a:extLst>
                    <a:ext uri="{9D8B030D-6E8A-4147-A177-3AD203B41FA5}">
                      <a16:colId xmlns:a16="http://schemas.microsoft.com/office/drawing/2014/main" val="4145255814"/>
                    </a:ext>
                  </a:extLst>
                </a:gridCol>
              </a:tblGrid>
              <a:tr h="4566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ASCII</a:t>
                      </a:r>
                      <a:endParaRPr lang="de-DE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Integer</a:t>
                      </a:r>
                      <a:endParaRPr lang="de-DE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Binary</a:t>
                      </a:r>
                      <a:endParaRPr lang="de-DE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State</a:t>
                      </a:r>
                      <a:endParaRPr lang="de-DE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927912"/>
                  </a:ext>
                </a:extLst>
              </a:tr>
              <a:tr h="4566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0100|0001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40332"/>
                  </a:ext>
                </a:extLst>
              </a:tr>
              <a:tr h="4566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0110|0001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228894"/>
                  </a:ext>
                </a:extLst>
              </a:tr>
              <a:tr h="4566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0110|0010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57226"/>
                  </a:ext>
                </a:extLst>
              </a:tr>
              <a:tr h="4566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0110|0011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 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particle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802799"/>
                  </a:ext>
                </a:extLst>
              </a:tr>
              <a:tr h="4566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0010|1110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349155"/>
                  </a:ext>
                </a:extLst>
              </a:tr>
              <a:tr h="4566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!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0010|0001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particle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759494"/>
                  </a:ext>
                </a:extLst>
              </a:tr>
              <a:tr h="4566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?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0011|1111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 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371741"/>
                  </a:ext>
                </a:extLst>
              </a:tr>
              <a:tr h="4566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[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0101|1011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184090"/>
                  </a:ext>
                </a:extLst>
              </a:tr>
              <a:tr h="4566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0010|1101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particle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175882"/>
                  </a:ext>
                </a:extLst>
              </a:tr>
              <a:tr h="4566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„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0010|0010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South (</a:t>
                      </a: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particle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299943"/>
                  </a:ext>
                </a:extLst>
              </a:tr>
              <a:tr h="4566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/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0010|1111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 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particle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286638"/>
                  </a:ext>
                </a:extLst>
              </a:tr>
              <a:tr h="4566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ä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228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1110|0010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646431"/>
                  </a:ext>
                </a:extLst>
              </a:tr>
            </a:tbl>
          </a:graphicData>
        </a:graphic>
      </p:graphicFrame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B0D3261F-0790-B391-2480-0AE01DEDA4B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60253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B4BD501-0DDA-BE07-DF94-673BB0F50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HPP-Rules</a:t>
            </a:r>
          </a:p>
        </p:txBody>
      </p:sp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176074AA-600B-F4CC-BFE2-CDACC96E72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6447534"/>
              </p:ext>
            </p:extLst>
          </p:nvPr>
        </p:nvGraphicFramePr>
        <p:xfrm>
          <a:off x="1227673" y="1668980"/>
          <a:ext cx="5052103" cy="788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Grafik 2" descr="Ein Bild, das Screenshot, Text, Design enthält.&#10;&#10;KI-generierte Inhalte können fehlerhaft sein.">
            <a:extLst>
              <a:ext uri="{FF2B5EF4-FFF2-40B4-BE49-F238E27FC236}">
                <a16:creationId xmlns:a16="http://schemas.microsoft.com/office/drawing/2014/main" id="{5E61DA41-8BF5-5998-7079-B732DC5AE8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15"/>
          <a:stretch>
            <a:fillRect/>
          </a:stretch>
        </p:blipFill>
        <p:spPr>
          <a:xfrm>
            <a:off x="7976831" y="1407863"/>
            <a:ext cx="8563146" cy="7821051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DAECA3-7F49-CAA9-F808-65EC99A71F2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636758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06422-A2C4-B232-41B2-7E5A706D6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FF81A8A2-7A6E-F0FC-392F-CD6FE73432E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6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1802D52-EBDD-DE12-97A8-33B3D8912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Algorithm (sequential)</a:t>
            </a: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6D5297EA-C068-C446-A19A-FED608DD9A82}"/>
              </a:ext>
            </a:extLst>
          </p:cNvPr>
          <p:cNvCxnSpPr/>
          <p:nvPr/>
        </p:nvCxnSpPr>
        <p:spPr>
          <a:xfrm>
            <a:off x="14019147" y="2050256"/>
            <a:ext cx="2275747" cy="0"/>
          </a:xfrm>
          <a:prstGeom prst="line">
            <a:avLst/>
          </a:prstGeom>
          <a:ln w="76200">
            <a:solidFill>
              <a:srgbClr val="43B6C8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7F47A6BF-75F9-DD86-C902-15D36FD0D3FA}"/>
              </a:ext>
            </a:extLst>
          </p:cNvPr>
          <p:cNvSpPr txBox="1"/>
          <p:nvPr/>
        </p:nvSpPr>
        <p:spPr>
          <a:xfrm>
            <a:off x="14019146" y="1634677"/>
            <a:ext cx="2275747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43B6C8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Encryptor</a:t>
            </a: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BD6D1EDD-678E-0CED-CC3F-55903BBBE9E2}"/>
              </a:ext>
            </a:extLst>
          </p:cNvPr>
          <p:cNvCxnSpPr/>
          <p:nvPr/>
        </p:nvCxnSpPr>
        <p:spPr>
          <a:xfrm>
            <a:off x="14019147" y="2692650"/>
            <a:ext cx="2275747" cy="0"/>
          </a:xfrm>
          <a:prstGeom prst="line">
            <a:avLst/>
          </a:prstGeom>
          <a:noFill/>
          <a:ln w="76200" cap="flat">
            <a:solidFill>
              <a:srgbClr val="005FAB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CA580128-4899-4FA0-F9F1-D9853CE5D269}"/>
              </a:ext>
            </a:extLst>
          </p:cNvPr>
          <p:cNvSpPr txBox="1"/>
          <p:nvPr/>
        </p:nvSpPr>
        <p:spPr>
          <a:xfrm>
            <a:off x="14019146" y="2281170"/>
            <a:ext cx="2275747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5FAB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Decryptor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07B31030-BA7A-FE75-0DA4-BDF77BACC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1285" y="2871795"/>
            <a:ext cx="17885430" cy="529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82526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1EE04-FE9A-2088-7FAD-8BB434C77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C40FE8-B806-99DB-EE07-79DE99B31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Parallelization</a:t>
            </a:r>
            <a:r>
              <a:rPr lang="de-DE" dirty="0"/>
              <a:t> –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needs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happen?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755A9D-912D-3AE4-5956-C94814C8E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arenBoth"/>
            </a:pPr>
            <a:r>
              <a:rPr lang="de-DE" dirty="0" err="1"/>
              <a:t>Preparations</a:t>
            </a:r>
            <a:r>
              <a:rPr lang="de-DE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/>
              <a:t>Read Message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 err="1"/>
              <a:t>Distribute</a:t>
            </a:r>
            <a:r>
              <a:rPr lang="de-DE" dirty="0"/>
              <a:t> in </a:t>
            </a:r>
            <a:r>
              <a:rPr lang="de-DE" dirty="0" err="1"/>
              <a:t>Grid</a:t>
            </a:r>
            <a:endParaRPr lang="de-DE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/>
              <a:t>Create MPI Geometry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(2) Main loop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 err="1"/>
              <a:t>Iterate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every</a:t>
            </a:r>
            <a:r>
              <a:rPr lang="de-DE" dirty="0"/>
              <a:t> </a:t>
            </a:r>
            <a:r>
              <a:rPr lang="de-DE" dirty="0" err="1"/>
              <a:t>cell</a:t>
            </a:r>
            <a:endParaRPr lang="de-DE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 err="1"/>
              <a:t>Apply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rules</a:t>
            </a:r>
            <a:endParaRPr lang="de-DE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/>
              <a:t>Manage Communication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(3) Wrap-</a:t>
            </a:r>
            <a:r>
              <a:rPr lang="de-DE" dirty="0" err="1"/>
              <a:t>up</a:t>
            </a:r>
            <a:endParaRPr lang="de-DE" dirty="0"/>
          </a:p>
          <a:p>
            <a:pPr marL="898071" lvl="1" indent="-457200">
              <a:buFont typeface="Arial" panose="020B0604020202020204" pitchFamily="34" charset="0"/>
              <a:buChar char="•"/>
            </a:pPr>
            <a:r>
              <a:rPr lang="de-DE" dirty="0" err="1"/>
              <a:t>Collect</a:t>
            </a:r>
            <a:r>
              <a:rPr lang="de-DE" dirty="0"/>
              <a:t> and </a:t>
            </a:r>
            <a:r>
              <a:rPr lang="de-DE" dirty="0" err="1"/>
              <a:t>write</a:t>
            </a:r>
            <a:r>
              <a:rPr lang="de-DE" dirty="0"/>
              <a:t> Data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A30084E-00BD-8288-A958-64772054732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347955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5116FA-F93F-685A-213A-BCE7096BC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Parallelization</a:t>
            </a:r>
            <a:r>
              <a:rPr lang="de-DE" dirty="0"/>
              <a:t> –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needs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happen?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63912B-1AF8-D5E0-5767-E8A885056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arenBoth"/>
            </a:pPr>
            <a:r>
              <a:rPr lang="de-DE" dirty="0" err="1"/>
              <a:t>Preparations</a:t>
            </a:r>
            <a:r>
              <a:rPr lang="de-DE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/>
              <a:t>Read </a:t>
            </a:r>
            <a:r>
              <a:rPr lang="de-DE" dirty="0" err="1"/>
              <a:t>message</a:t>
            </a:r>
            <a:endParaRPr lang="de-DE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 err="1"/>
              <a:t>Distribute</a:t>
            </a:r>
            <a:r>
              <a:rPr lang="de-DE" dirty="0"/>
              <a:t> in </a:t>
            </a:r>
            <a:r>
              <a:rPr lang="de-DE" dirty="0" err="1"/>
              <a:t>grid</a:t>
            </a:r>
            <a:endParaRPr lang="de-DE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/>
              <a:t>Create MPI-</a:t>
            </a:r>
            <a:r>
              <a:rPr lang="de-DE" dirty="0" err="1"/>
              <a:t>geometry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(2) Main loop: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 err="1"/>
              <a:t>Iterate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every</a:t>
            </a:r>
            <a:r>
              <a:rPr lang="de-DE" dirty="0"/>
              <a:t> </a:t>
            </a:r>
            <a:r>
              <a:rPr lang="de-DE" dirty="0" err="1"/>
              <a:t>cell</a:t>
            </a:r>
            <a:endParaRPr lang="de-DE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 err="1"/>
              <a:t>Apply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rules</a:t>
            </a:r>
            <a:endParaRPr lang="de-DE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/>
              <a:t>Manage </a:t>
            </a:r>
            <a:r>
              <a:rPr lang="de-DE" dirty="0" err="1"/>
              <a:t>communication</a:t>
            </a:r>
            <a:endParaRPr lang="de-DE" dirty="0"/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(3) Wrap-</a:t>
            </a:r>
            <a:r>
              <a:rPr lang="de-DE" dirty="0" err="1"/>
              <a:t>up</a:t>
            </a:r>
            <a:r>
              <a:rPr lang="de-DE" dirty="0"/>
              <a:t>:</a:t>
            </a:r>
          </a:p>
          <a:p>
            <a:pPr marL="898071" lvl="1" indent="-457200">
              <a:buFont typeface="Arial" panose="020B0604020202020204" pitchFamily="34" charset="0"/>
              <a:buChar char="•"/>
            </a:pPr>
            <a:r>
              <a:rPr lang="de-DE" dirty="0" err="1"/>
              <a:t>Collect</a:t>
            </a:r>
            <a:r>
              <a:rPr lang="de-DE" dirty="0"/>
              <a:t> and </a:t>
            </a:r>
            <a:r>
              <a:rPr lang="de-DE" dirty="0" err="1"/>
              <a:t>write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631E7E1-1BA2-E093-1C4E-E8D8CD19DD0A}"/>
              </a:ext>
            </a:extLst>
          </p:cNvPr>
          <p:cNvGrpSpPr/>
          <p:nvPr/>
        </p:nvGrpSpPr>
        <p:grpSpPr>
          <a:xfrm>
            <a:off x="6204026" y="5590901"/>
            <a:ext cx="6231814" cy="1841863"/>
            <a:chOff x="6204026" y="5590901"/>
            <a:chExt cx="6231814" cy="1841863"/>
          </a:xfrm>
        </p:grpSpPr>
        <p:sp>
          <p:nvSpPr>
            <p:cNvPr id="6" name="Geschweifte Klammer rechts 5">
              <a:extLst>
                <a:ext uri="{FF2B5EF4-FFF2-40B4-BE49-F238E27FC236}">
                  <a16:creationId xmlns:a16="http://schemas.microsoft.com/office/drawing/2014/main" id="{74220C20-F8D1-A25C-47B7-B57AAA90488C}"/>
                </a:ext>
              </a:extLst>
            </p:cNvPr>
            <p:cNvSpPr/>
            <p:nvPr/>
          </p:nvSpPr>
          <p:spPr>
            <a:xfrm>
              <a:off x="6204026" y="5590901"/>
              <a:ext cx="1084218" cy="1841863"/>
            </a:xfrm>
            <a:prstGeom prst="rightBrace">
              <a:avLst/>
            </a:prstGeom>
            <a:noFill/>
            <a:ln w="76200" cap="flat">
              <a:solidFill>
                <a:srgbClr val="C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endParaRP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8FEBB766-C998-4474-9753-995F864B2F76}"/>
                </a:ext>
              </a:extLst>
            </p:cNvPr>
            <p:cNvSpPr txBox="1"/>
            <p:nvPr/>
          </p:nvSpPr>
          <p:spPr>
            <a:xfrm>
              <a:off x="7687490" y="6188667"/>
              <a:ext cx="4748350" cy="646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de-DE" dirty="0"/>
                <a:t> </a:t>
              </a:r>
              <a:r>
                <a:rPr lang="de-DE" sz="3600" b="1" dirty="0">
                  <a:solidFill>
                    <a:srgbClr val="C00000"/>
                  </a:solidFill>
                </a:rPr>
                <a:t>&gt; </a:t>
              </a:r>
              <a:r>
                <a:rPr kumimoji="0" lang="de-DE" sz="3600" b="1" i="0" u="none" strike="noStrike" cap="none" spc="0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rPr>
                <a:t>98 %  </a:t>
              </a:r>
              <a:r>
                <a:rPr kumimoji="0" lang="de-DE" sz="3600" b="1" i="0" u="none" strike="noStrike" cap="none" spc="0" normalizeH="0" baseline="0" dirty="0" err="1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rPr>
                <a:t>of</a:t>
              </a:r>
              <a:r>
                <a:rPr kumimoji="0" lang="de-DE" sz="3600" b="1" i="0" u="none" strike="noStrike" cap="none" spc="0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rPr>
                <a:t> total </a:t>
              </a:r>
              <a:r>
                <a:rPr kumimoji="0" lang="de-DE" sz="3600" b="1" i="0" u="none" strike="noStrike" cap="none" spc="0" normalizeH="0" baseline="0" dirty="0" err="1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rPr>
                <a:t>runtime</a:t>
              </a:r>
              <a:endParaRPr kumimoji="0" lang="de-DE" sz="18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</p:grp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D180B40-524A-020D-374C-EEA16D8C0A4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203287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023CA-3EB6-1642-91F8-29909AE0F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7B9F94-3BCB-50EF-426A-97C77B9E9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Parallelization – How to approach it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63DE31-6C06-F61E-FB96-934C7B80A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Cells are </a:t>
            </a:r>
            <a:r>
              <a:rPr lang="en-US" b="1" dirty="0">
                <a:sym typeface="Wingdings" panose="05000000000000000000" pitchFamily="2" charset="2"/>
              </a:rPr>
              <a:t>mostly</a:t>
            </a:r>
            <a:r>
              <a:rPr lang="en-US" dirty="0">
                <a:sym typeface="Wingdings" panose="05000000000000000000" pitchFamily="2" charset="2"/>
              </a:rPr>
              <a:t> independent  Implies use of Domains (via MPI)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u="sng" dirty="0"/>
              <a:t>But:</a:t>
            </a:r>
          </a:p>
          <a:p>
            <a:r>
              <a:rPr lang="en-US" dirty="0"/>
              <a:t>Q: What Geometry?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 Wanna optimize “volume/edge” ratio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 </a:t>
            </a:r>
            <a:r>
              <a:rPr lang="en-US" dirty="0" err="1">
                <a:sym typeface="Wingdings" panose="05000000000000000000" pitchFamily="2" charset="2"/>
              </a:rPr>
              <a:t>MPI_Cart</a:t>
            </a:r>
            <a:r>
              <a:rPr lang="en-US" dirty="0">
                <a:sym typeface="Wingdings" panose="05000000000000000000" pitchFamily="2" charset="2"/>
              </a:rPr>
              <a:t> – function family helps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Q: What happens if “particles” migrate?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 Domains need to share borders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 Need to send and receive neighbor state</a:t>
            </a:r>
          </a:p>
          <a:p>
            <a:r>
              <a:rPr lang="en-US" dirty="0">
                <a:sym typeface="Wingdings" panose="05000000000000000000" pitchFamily="2" charset="2"/>
              </a:rPr>
              <a:t>Solution: Introduce Halo-Cells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E8699CF2-547F-D9B1-9EFE-1163B3830BF7}"/>
              </a:ext>
            </a:extLst>
          </p:cNvPr>
          <p:cNvGraphicFramePr>
            <a:graphicFrameLocks noGrp="1"/>
          </p:cNvGraphicFramePr>
          <p:nvPr/>
        </p:nvGraphicFramePr>
        <p:xfrm>
          <a:off x="9144000" y="5143500"/>
          <a:ext cx="4035640" cy="4039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520">
                  <a:extLst>
                    <a:ext uri="{9D8B030D-6E8A-4147-A177-3AD203B41FA5}">
                      <a16:colId xmlns:a16="http://schemas.microsoft.com/office/drawing/2014/main" val="3589136019"/>
                    </a:ext>
                  </a:extLst>
                </a:gridCol>
                <a:gridCol w="576520">
                  <a:extLst>
                    <a:ext uri="{9D8B030D-6E8A-4147-A177-3AD203B41FA5}">
                      <a16:colId xmlns:a16="http://schemas.microsoft.com/office/drawing/2014/main" val="2093100774"/>
                    </a:ext>
                  </a:extLst>
                </a:gridCol>
                <a:gridCol w="576520">
                  <a:extLst>
                    <a:ext uri="{9D8B030D-6E8A-4147-A177-3AD203B41FA5}">
                      <a16:colId xmlns:a16="http://schemas.microsoft.com/office/drawing/2014/main" val="800954486"/>
                    </a:ext>
                  </a:extLst>
                </a:gridCol>
                <a:gridCol w="576520">
                  <a:extLst>
                    <a:ext uri="{9D8B030D-6E8A-4147-A177-3AD203B41FA5}">
                      <a16:colId xmlns:a16="http://schemas.microsoft.com/office/drawing/2014/main" val="3803029488"/>
                    </a:ext>
                  </a:extLst>
                </a:gridCol>
                <a:gridCol w="576520">
                  <a:extLst>
                    <a:ext uri="{9D8B030D-6E8A-4147-A177-3AD203B41FA5}">
                      <a16:colId xmlns:a16="http://schemas.microsoft.com/office/drawing/2014/main" val="896803273"/>
                    </a:ext>
                  </a:extLst>
                </a:gridCol>
                <a:gridCol w="576520">
                  <a:extLst>
                    <a:ext uri="{9D8B030D-6E8A-4147-A177-3AD203B41FA5}">
                      <a16:colId xmlns:a16="http://schemas.microsoft.com/office/drawing/2014/main" val="1768322493"/>
                    </a:ext>
                  </a:extLst>
                </a:gridCol>
                <a:gridCol w="576520">
                  <a:extLst>
                    <a:ext uri="{9D8B030D-6E8A-4147-A177-3AD203B41FA5}">
                      <a16:colId xmlns:a16="http://schemas.microsoft.com/office/drawing/2014/main" val="1860172683"/>
                    </a:ext>
                  </a:extLst>
                </a:gridCol>
              </a:tblGrid>
              <a:tr h="577038"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486247"/>
                  </a:ext>
                </a:extLst>
              </a:tr>
              <a:tr h="577038"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009773"/>
                  </a:ext>
                </a:extLst>
              </a:tr>
              <a:tr h="577038"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233872"/>
                  </a:ext>
                </a:extLst>
              </a:tr>
              <a:tr h="577038"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 marL="37953" marR="37953" marT="18976" marB="18976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96433"/>
                  </a:ext>
                </a:extLst>
              </a:tr>
              <a:tr h="577038"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 marL="37953" marR="37953" marT="18976" marB="18976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390885"/>
                  </a:ext>
                </a:extLst>
              </a:tr>
              <a:tr h="577038"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 marL="37953" marR="37953" marT="18976" marB="18976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 marL="37953" marR="37953" marT="18976" marB="18976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916957"/>
                  </a:ext>
                </a:extLst>
              </a:tr>
              <a:tr h="577038"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 marL="37953" marR="37953" marT="18976" marB="1897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 marL="37953" marR="37953" marT="18976" marB="1897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 marL="37953" marR="37953" marT="18976" marB="1897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 marL="37953" marR="37953" marT="18976" marB="18976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 marL="37953" marR="37953" marT="18976" marB="1897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944148"/>
                  </a:ext>
                </a:extLst>
              </a:tr>
            </a:tbl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10A7C7F0-A884-735E-A4FF-32E04FDF15B6}"/>
              </a:ext>
            </a:extLst>
          </p:cNvPr>
          <p:cNvSpPr txBox="1"/>
          <p:nvPr/>
        </p:nvSpPr>
        <p:spPr>
          <a:xfrm>
            <a:off x="13458319" y="5076538"/>
            <a:ext cx="4048542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Halo </a:t>
            </a:r>
            <a:r>
              <a:rPr kumimoji="0" lang="de-DE" sz="2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cells</a:t>
            </a:r>
            <a:r>
              <a:rPr kumimoji="0" lang="de-DE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(</a:t>
            </a:r>
            <a:r>
              <a:rPr kumimoji="0" lang="de-DE" sz="2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equal</a:t>
            </a:r>
            <a:r>
              <a:rPr kumimoji="0" lang="de-DE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in </a:t>
            </a:r>
            <a:r>
              <a:rPr kumimoji="0" lang="de-DE" sz="2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state</a:t>
            </a:r>
            <a:r>
              <a:rPr kumimoji="0" lang="de-DE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kumimoji="0" lang="de-DE" sz="2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to</a:t>
            </a:r>
            <a:r>
              <a:rPr kumimoji="0" lang="de-DE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2400" b="1" dirty="0" err="1"/>
              <a:t>n</a:t>
            </a:r>
            <a:r>
              <a:rPr kumimoji="0" lang="de-DE" sz="2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eighbor</a:t>
            </a:r>
            <a:r>
              <a:rPr kumimoji="0" lang="de-DE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kumimoji="0" lang="de-DE" sz="2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domains</a:t>
            </a:r>
            <a:r>
              <a:rPr kumimoji="0" lang="de-DE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kumimoji="0" lang="de-DE" sz="2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border</a:t>
            </a:r>
            <a:r>
              <a:rPr kumimoji="0" lang="de-DE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kumimoji="0" lang="de-DE" sz="2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cells</a:t>
            </a:r>
            <a:r>
              <a:rPr kumimoji="0" lang="de-DE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2DCB88B-DF66-7669-0027-923D9A4486B1}"/>
              </a:ext>
            </a:extLst>
          </p:cNvPr>
          <p:cNvSpPr txBox="1"/>
          <p:nvPr/>
        </p:nvSpPr>
        <p:spPr>
          <a:xfrm>
            <a:off x="13450780" y="6368032"/>
            <a:ext cx="4837220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Border </a:t>
            </a:r>
            <a:r>
              <a:rPr kumimoji="0" lang="de-DE" sz="2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cells</a:t>
            </a:r>
            <a:r>
              <a:rPr kumimoji="0" lang="de-DE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(</a:t>
            </a:r>
            <a:r>
              <a:rPr kumimoji="0" lang="de-DE" sz="2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transferred</a:t>
            </a:r>
            <a:r>
              <a:rPr kumimoji="0" lang="de-DE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kumimoji="0" lang="de-DE" sz="2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to</a:t>
            </a:r>
            <a:r>
              <a:rPr kumimoji="0" lang="de-DE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kumimoji="0" lang="de-DE" sz="2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neighbor</a:t>
            </a:r>
            <a:r>
              <a:rPr kumimoji="0" lang="de-DE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FA27E8F-D205-3485-4F15-22D17D781D07}"/>
              </a:ext>
            </a:extLst>
          </p:cNvPr>
          <p:cNvSpPr txBox="1"/>
          <p:nvPr/>
        </p:nvSpPr>
        <p:spPr>
          <a:xfrm>
            <a:off x="13480603" y="7548322"/>
            <a:ext cx="327108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Inner</a:t>
            </a:r>
            <a:r>
              <a:rPr kumimoji="0" lang="de-DE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</a:t>
            </a:r>
            <a:r>
              <a:rPr kumimoji="0" lang="de-DE" sz="2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core</a:t>
            </a:r>
            <a:r>
              <a:rPr kumimoji="0" lang="de-DE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(</a:t>
            </a:r>
            <a:r>
              <a:rPr kumimoji="0" lang="de-DE" sz="2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independent</a:t>
            </a:r>
            <a:r>
              <a:rPr kumimoji="0" lang="de-DE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)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771CD4B7-5DAF-F7ED-1094-B2C080BC7A3F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12290612" y="5492036"/>
            <a:ext cx="11677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9044A370-7011-8B8C-0F53-601F7D0B22AE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12290612" y="6598864"/>
            <a:ext cx="11601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55E9D37E-1C67-3055-2D49-179BBBFC1151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11698941" y="7779154"/>
            <a:ext cx="178166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2ED1FA-8A19-C331-CDBC-955DB6A5A19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664286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49F15-E5CD-512B-579B-E10AB3D29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A7A7A3-B65A-C137-3AE1-08ECBDEE3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Parallelization – How to approach it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3626E4E-BAC3-657A-9669-47A827BA5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border cells need to know about halos</a:t>
            </a:r>
          </a:p>
          <a:p>
            <a:r>
              <a:rPr lang="en-US" dirty="0"/>
              <a:t>Inner core is independent </a:t>
            </a:r>
            <a:r>
              <a:rPr lang="en-US" dirty="0">
                <a:sym typeface="Wingdings" panose="05000000000000000000" pitchFamily="2" charset="2"/>
              </a:rPr>
              <a:t> can utilize overlap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 use non-blocking communication for halo transfer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</a:t>
            </a:r>
            <a:r>
              <a:rPr lang="en-US" u="sng" dirty="0">
                <a:sym typeface="Wingdings" panose="05000000000000000000" pitchFamily="2" charset="2"/>
              </a:rPr>
              <a:t>Specifically: </a:t>
            </a:r>
          </a:p>
          <a:p>
            <a:r>
              <a:rPr lang="en-US" dirty="0">
                <a:sym typeface="Wingdings" panose="05000000000000000000" pitchFamily="2" charset="2"/>
              </a:rPr>
              <a:t>Process uses </a:t>
            </a:r>
            <a:r>
              <a:rPr lang="en-US" dirty="0" err="1">
                <a:sym typeface="Wingdings" panose="05000000000000000000" pitchFamily="2" charset="2"/>
              </a:rPr>
              <a:t>MPI_Isend</a:t>
            </a:r>
            <a:r>
              <a:rPr lang="en-US" dirty="0">
                <a:sym typeface="Wingdings" panose="05000000000000000000" pitchFamily="2" charset="2"/>
              </a:rPr>
              <a:t> and </a:t>
            </a:r>
            <a:r>
              <a:rPr lang="en-US" dirty="0" err="1">
                <a:sym typeface="Wingdings" panose="05000000000000000000" pitchFamily="2" charset="2"/>
              </a:rPr>
              <a:t>MPI_Irecv</a:t>
            </a:r>
            <a:r>
              <a:rPr lang="en-US" dirty="0">
                <a:sym typeface="Wingdings" panose="05000000000000000000" pitchFamily="2" charset="2"/>
              </a:rPr>
              <a:t> to gather and distribute Halos</a:t>
            </a:r>
          </a:p>
          <a:p>
            <a:r>
              <a:rPr lang="en-US" dirty="0">
                <a:sym typeface="Wingdings" panose="05000000000000000000" pitchFamily="2" charset="2"/>
              </a:rPr>
              <a:t>Meanwhile: Compute inner cells</a:t>
            </a:r>
          </a:p>
          <a:p>
            <a:r>
              <a:rPr lang="en-US" dirty="0">
                <a:sym typeface="Wingdings" panose="05000000000000000000" pitchFamily="2" charset="2"/>
              </a:rPr>
              <a:t>Downstream </a:t>
            </a:r>
            <a:r>
              <a:rPr lang="en-US" dirty="0" err="1">
                <a:sym typeface="Wingdings" panose="05000000000000000000" pitchFamily="2" charset="2"/>
              </a:rPr>
              <a:t>MPI_Waitall</a:t>
            </a:r>
            <a:r>
              <a:rPr lang="en-US" dirty="0">
                <a:sym typeface="Wingdings" panose="05000000000000000000" pitchFamily="2" charset="2"/>
              </a:rPr>
              <a:t> for synchronization</a:t>
            </a:r>
          </a:p>
          <a:p>
            <a:r>
              <a:rPr lang="en-US" dirty="0">
                <a:sym typeface="Wingdings" panose="05000000000000000000" pitchFamily="2" charset="2"/>
              </a:rPr>
              <a:t>Now compute border cells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B9A49B-B240-A092-BE98-5C0C67C1402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205985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C4A3B-CBBB-CAB7-E135-3A4D95E88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2E386F-1E0C-1033-E694-A62DD63B0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Parallelization – How to approach it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FE50E0-853C-955D-42A8-F7C20FA1A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sym typeface="Wingdings" panose="05000000000000000000" pitchFamily="2" charset="2"/>
              </a:rPr>
              <a:t>Compution</a:t>
            </a:r>
            <a:r>
              <a:rPr lang="en-US" dirty="0">
                <a:sym typeface="Wingdings" panose="05000000000000000000" pitchFamily="2" charset="2"/>
              </a:rPr>
              <a:t> of next cell states happens in loops  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 Implies use of OpenMP’s #pragma </a:t>
            </a:r>
            <a:r>
              <a:rPr lang="en-US" dirty="0" err="1">
                <a:sym typeface="Wingdings" panose="05000000000000000000" pitchFamily="2" charset="2"/>
              </a:rPr>
              <a:t>omp</a:t>
            </a:r>
            <a:r>
              <a:rPr lang="en-US" dirty="0">
                <a:sym typeface="Wingdings" panose="05000000000000000000" pitchFamily="2" charset="2"/>
              </a:rPr>
              <a:t> parallel for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 May use #pragma </a:t>
            </a:r>
            <a:r>
              <a:rPr lang="en-US" dirty="0" err="1">
                <a:sym typeface="Wingdings" panose="05000000000000000000" pitchFamily="2" charset="2"/>
              </a:rPr>
              <a:t>omp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simd</a:t>
            </a:r>
            <a:r>
              <a:rPr lang="en-US" dirty="0">
                <a:sym typeface="Wingdings" panose="05000000000000000000" pitchFamily="2" charset="2"/>
              </a:rPr>
              <a:t> (one </a:t>
            </a:r>
            <a:r>
              <a:rPr lang="fr-FR" dirty="0">
                <a:sym typeface="Wingdings" panose="05000000000000000000" pitchFamily="2" charset="2"/>
              </a:rPr>
              <a:t>instruction </a:t>
            </a:r>
            <a:r>
              <a:rPr lang="fr-FR" dirty="0" err="1">
                <a:sym typeface="Wingdings" panose="05000000000000000000" pitchFamily="2" charset="2"/>
              </a:rPr>
              <a:t>processes</a:t>
            </a:r>
            <a:r>
              <a:rPr lang="fr-FR" dirty="0">
                <a:sym typeface="Wingdings" panose="05000000000000000000" pitchFamily="2" charset="2"/>
              </a:rPr>
              <a:t> multiple </a:t>
            </a:r>
            <a:r>
              <a:rPr lang="fr-FR" dirty="0" err="1">
                <a:sym typeface="Wingdings" panose="05000000000000000000" pitchFamily="2" charset="2"/>
              </a:rPr>
              <a:t>elements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 </a:t>
            </a:r>
            <a:r>
              <a:rPr lang="en-US" u="sng" dirty="0">
                <a:sym typeface="Wingdings" panose="05000000000000000000" pitchFamily="2" charset="2"/>
              </a:rPr>
              <a:t>Pitfall: </a:t>
            </a:r>
          </a:p>
          <a:p>
            <a:r>
              <a:rPr lang="en-US" dirty="0">
                <a:sym typeface="Wingdings" panose="05000000000000000000" pitchFamily="2" charset="2"/>
              </a:rPr>
              <a:t>Need to calculate next state cellwise, but the next state depends on neighboring cells.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</a:t>
            </a:r>
            <a:r>
              <a:rPr lang="en-US" u="sng" dirty="0">
                <a:sym typeface="Wingdings" panose="05000000000000000000" pitchFamily="2" charset="2"/>
              </a:rPr>
              <a:t>Solution:</a:t>
            </a:r>
          </a:p>
          <a:p>
            <a:r>
              <a:rPr lang="en-US" dirty="0">
                <a:sym typeface="Wingdings" panose="05000000000000000000" pitchFamily="2" charset="2"/>
              </a:rPr>
              <a:t>Use double-buffers: one active grid and one “next state” grid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AF8CE7-867D-097D-82B1-401E7860613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16250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69B50-DF2C-81B7-9CC1-C6C3B224A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D066CF3-4FB3-3F40-A6ED-0A0851F3239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12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C12412A-8AC7-DB5C-0A04-DABA059BB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Parallelization structure (MPI+OMP)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7ED37B0-F9AD-456E-2C3B-00D7C8F8F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61339" y="2957611"/>
            <a:ext cx="19210677" cy="404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40608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F6609-27F7-8645-D556-19B7D7867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F749BE-7BFC-3F8B-ACAA-B1D66C9C4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Parallelization - Tips &amp; Tricks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9C9173-261A-69AC-1CCC-B46CB70DA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Trim the loop</a:t>
            </a:r>
          </a:p>
          <a:p>
            <a:pPr>
              <a:lnSpc>
                <a:spcPct val="150000"/>
              </a:lnSpc>
            </a:pPr>
            <a:r>
              <a:rPr lang="en-US" dirty="0"/>
              <a:t>Set the mode as early as possible</a:t>
            </a:r>
          </a:p>
          <a:p>
            <a:pPr>
              <a:lnSpc>
                <a:spcPct val="150000"/>
              </a:lnSpc>
            </a:pPr>
            <a:r>
              <a:rPr lang="en-US" dirty="0"/>
              <a:t>Compiler Flags matter</a:t>
            </a:r>
          </a:p>
          <a:p>
            <a:pPr>
              <a:lnSpc>
                <a:spcPct val="150000"/>
              </a:lnSpc>
            </a:pPr>
            <a:r>
              <a:rPr lang="en-US" dirty="0"/>
              <a:t>Don’t copy large-scale, use pointers</a:t>
            </a:r>
          </a:p>
          <a:p>
            <a:pPr>
              <a:lnSpc>
                <a:spcPct val="150000"/>
              </a:lnSpc>
            </a:pPr>
            <a:r>
              <a:rPr lang="en-US" dirty="0"/>
              <a:t>Avoid custom made </a:t>
            </a:r>
            <a:r>
              <a:rPr lang="en-US" dirty="0" err="1"/>
              <a:t>datastructures</a:t>
            </a:r>
            <a:endParaRPr lang="en-US" dirty="0"/>
          </a:p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788BE14-BC49-CBBC-6498-F3ABC6F71BD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974855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3E9554-ABA2-F58E-122D-A31B22148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989354-9B61-036E-896A-9A465F953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AI-Cluster of HS-Koblenz (Total of 128 CPUs)</a:t>
            </a:r>
          </a:p>
          <a:p>
            <a:pPr lvl="1"/>
            <a:r>
              <a:rPr lang="en-US" dirty="0"/>
              <a:t>Max. 32 MPI-Processes</a:t>
            </a:r>
          </a:p>
          <a:p>
            <a:pPr lvl="1"/>
            <a:r>
              <a:rPr lang="en-US" dirty="0"/>
              <a:t>Max. 4 OMP-Threads</a:t>
            </a:r>
          </a:p>
          <a:p>
            <a:pPr lvl="1"/>
            <a:r>
              <a:rPr lang="en-US" dirty="0"/>
              <a:t>Grid-Sizes: 2^5, 2^6, …, 2^12</a:t>
            </a:r>
          </a:p>
          <a:p>
            <a:pPr lvl="1"/>
            <a:r>
              <a:rPr lang="en-US" dirty="0"/>
              <a:t>2000 Iterations</a:t>
            </a:r>
          </a:p>
          <a:p>
            <a:pPr lvl="1"/>
            <a:r>
              <a:rPr lang="en-US" dirty="0"/>
              <a:t>O3 optimizer</a:t>
            </a:r>
          </a:p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AE7A5D9-22AB-2A2E-7F41-96CE693BA38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669974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5125B515-A955-CBAB-5D0D-77F8E05F313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15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AED48F8-62A2-1771-14DD-A777BB165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- Best configurations</a:t>
            </a:r>
          </a:p>
        </p:txBody>
      </p:sp>
      <p:graphicFrame>
        <p:nvGraphicFramePr>
          <p:cNvPr id="15" name="Tabelle 14">
            <a:extLst>
              <a:ext uri="{FF2B5EF4-FFF2-40B4-BE49-F238E27FC236}">
                <a16:creationId xmlns:a16="http://schemas.microsoft.com/office/drawing/2014/main" id="{6AB2E32E-6040-BF30-3941-07CC0C872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86838"/>
              </p:ext>
            </p:extLst>
          </p:nvPr>
        </p:nvGraphicFramePr>
        <p:xfrm>
          <a:off x="9923327" y="1888998"/>
          <a:ext cx="8100000" cy="7073633"/>
        </p:xfrm>
        <a:graphic>
          <a:graphicData uri="http://schemas.openxmlformats.org/drawingml/2006/table">
            <a:tbl>
              <a:tblPr/>
              <a:tblGrid>
                <a:gridCol w="1620000">
                  <a:extLst>
                    <a:ext uri="{9D8B030D-6E8A-4147-A177-3AD203B41FA5}">
                      <a16:colId xmlns:a16="http://schemas.microsoft.com/office/drawing/2014/main" val="58404414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04899291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10042829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4145255814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163107572"/>
                    </a:ext>
                  </a:extLst>
                </a:gridCol>
              </a:tblGrid>
              <a:tr h="7192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Mode</a:t>
                      </a:r>
                      <a:endParaRPr lang="de-DE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b="1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grid</a:t>
                      </a:r>
                      <a:endParaRPr lang="de-DE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>
                          <a:solidFill>
                            <a:schemeClr val="bg1"/>
                          </a:solidFill>
                          <a:effectLst/>
                        </a:rPr>
                        <a:t>MPI</a:t>
                      </a:r>
                      <a:br>
                        <a:rPr lang="de-D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de-DE" dirty="0" err="1">
                          <a:solidFill>
                            <a:schemeClr val="bg1"/>
                          </a:solidFill>
                          <a:effectLst/>
                        </a:rPr>
                        <a:t>Processes</a:t>
                      </a:r>
                      <a:endParaRPr lang="de-DE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OMP</a:t>
                      </a:r>
                      <a:br>
                        <a:rPr lang="de-DE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de-DE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Threads</a:t>
                      </a:r>
                      <a:endParaRPr lang="de-DE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 err="1">
                          <a:solidFill>
                            <a:schemeClr val="bg1"/>
                          </a:solidFill>
                          <a:effectLst/>
                        </a:rPr>
                        <a:t>Runtime</a:t>
                      </a:r>
                      <a:r>
                        <a:rPr lang="de-DE" dirty="0">
                          <a:solidFill>
                            <a:schemeClr val="bg1"/>
                          </a:solidFill>
                          <a:effectLst/>
                        </a:rPr>
                        <a:t> [s]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927912"/>
                  </a:ext>
                </a:extLst>
              </a:tr>
              <a:tr h="4601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Decrypt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2^5 = 32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2000" dirty="0">
                          <a:effectLst/>
                        </a:rPr>
                        <a:t>0.0405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40332"/>
                  </a:ext>
                </a:extLst>
              </a:tr>
              <a:tr h="4601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Decrypt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2^6 = 64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2000" dirty="0">
                          <a:effectLst/>
                        </a:rPr>
                        <a:t>0.0716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228894"/>
                  </a:ext>
                </a:extLst>
              </a:tr>
              <a:tr h="4601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Decrypt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2^7 = 128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2000" dirty="0">
                          <a:effectLst/>
                        </a:rPr>
                        <a:t>0.1120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57226"/>
                  </a:ext>
                </a:extLst>
              </a:tr>
              <a:tr h="4601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Decrypt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2^8 = 256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2000" dirty="0">
                          <a:effectLst/>
                        </a:rPr>
                        <a:t>0.1588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802799"/>
                  </a:ext>
                </a:extLst>
              </a:tr>
              <a:tr h="4601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Decrypt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2^10 = 1024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32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2000" dirty="0">
                          <a:effectLst/>
                        </a:rPr>
                        <a:t>0.8464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349155"/>
                  </a:ext>
                </a:extLst>
              </a:tr>
              <a:tr h="4490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Decrypt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 2^11 = 2048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32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2000" dirty="0">
                          <a:effectLst/>
                        </a:rPr>
                        <a:t>2.9029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759494"/>
                  </a:ext>
                </a:extLst>
              </a:tr>
              <a:tr h="4490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Decrypt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2^12 = 4096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2000" dirty="0">
                          <a:effectLst/>
                        </a:rPr>
                        <a:t>10.9314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371741"/>
                  </a:ext>
                </a:extLst>
              </a:tr>
              <a:tr h="4490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Encrypt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2^5 = 32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2000" dirty="0">
                          <a:effectLst/>
                        </a:rPr>
                        <a:t>0.0476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184090"/>
                  </a:ext>
                </a:extLst>
              </a:tr>
              <a:tr h="4490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Encrypt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2^6 = 64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2000" dirty="0">
                          <a:effectLst/>
                        </a:rPr>
                        <a:t>0.0658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175882"/>
                  </a:ext>
                </a:extLst>
              </a:tr>
              <a:tr h="4490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Encrypt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2^7 = 128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2000" dirty="0">
                          <a:effectLst/>
                        </a:rPr>
                        <a:t>0.1162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299943"/>
                  </a:ext>
                </a:extLst>
              </a:tr>
              <a:tr h="4490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Encrypt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2^8 = 256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32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2000" dirty="0">
                          <a:effectLst/>
                        </a:rPr>
                        <a:t>0.1792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286638"/>
                  </a:ext>
                </a:extLst>
              </a:tr>
              <a:tr h="4490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Encrypt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2^10 = 1024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32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2000" dirty="0">
                          <a:effectLst/>
                        </a:rPr>
                        <a:t>0.9575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646431"/>
                  </a:ext>
                </a:extLst>
              </a:tr>
              <a:tr h="4490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Encrypt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 2^11 = 2048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32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2000" dirty="0">
                          <a:effectLst/>
                        </a:rPr>
                        <a:t>3.2018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36710"/>
                  </a:ext>
                </a:extLst>
              </a:tr>
              <a:tr h="4490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Encrypt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2^12 = 4096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32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2000" dirty="0">
                          <a:effectLst/>
                        </a:rPr>
                        <a:t>12.4701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822371"/>
                  </a:ext>
                </a:extLst>
              </a:tr>
            </a:tbl>
          </a:graphicData>
        </a:graphic>
      </p:graphicFrame>
      <p:pic>
        <p:nvPicPr>
          <p:cNvPr id="22" name="Grafik 21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1C0F5FF4-26BA-DF8E-61FD-B511A1F03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72" y="1894172"/>
            <a:ext cx="9424612" cy="706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87882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963E8F8-A33A-3E26-46D5-103F5BB9360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16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7CC9476-79CE-E413-2294-11343B82F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- Scaling</a:t>
            </a:r>
          </a:p>
        </p:txBody>
      </p:sp>
      <p:pic>
        <p:nvPicPr>
          <p:cNvPr id="8" name="Grafik 7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7A7E201C-00FD-3F75-F78F-115C84D8EE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9835" y="2114026"/>
            <a:ext cx="8559799" cy="6419850"/>
          </a:xfrm>
          <a:prstGeom prst="rect">
            <a:avLst/>
          </a:prstGeom>
        </p:spPr>
      </p:pic>
      <p:pic>
        <p:nvPicPr>
          <p:cNvPr id="10" name="Grafik 9" descr="Ein Bild, das Text, Reihe, Diagramm, Steigung enthält.&#10;&#10;KI-generierte Inhalte können fehlerhaft sein.">
            <a:extLst>
              <a:ext uri="{FF2B5EF4-FFF2-40B4-BE49-F238E27FC236}">
                <a16:creationId xmlns:a16="http://schemas.microsoft.com/office/drawing/2014/main" id="{C17DD86D-7487-2ED3-9E42-976170A046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35" y="2114026"/>
            <a:ext cx="8559799" cy="641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0106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F88861-B938-86E5-C227-C837DB9F129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17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DA45991-031A-AE2D-EC75-AF46D7041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– Encrypted/ Decrypted</a:t>
            </a:r>
          </a:p>
        </p:txBody>
      </p:sp>
      <p:pic>
        <p:nvPicPr>
          <p:cNvPr id="4" name="Grafik 3" descr="Ein Bild, das Screenshot, Text, Rechteck, Schwarzweiß enthält.&#10;&#10;KI-generierte Inhalte können fehlerhaft sein.">
            <a:extLst>
              <a:ext uri="{FF2B5EF4-FFF2-40B4-BE49-F238E27FC236}">
                <a16:creationId xmlns:a16="http://schemas.microsoft.com/office/drawing/2014/main" id="{5DA49AAD-B5B3-A601-5A0B-E57435CF0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52" y="1799791"/>
            <a:ext cx="8523648" cy="6903267"/>
          </a:xfrm>
          <a:prstGeom prst="rect">
            <a:avLst/>
          </a:prstGeom>
        </p:spPr>
      </p:pic>
      <p:pic>
        <p:nvPicPr>
          <p:cNvPr id="6" name="Grafik 5" descr="Ein Bild, das Text, Schrift, Screenshot, Poster enthält.&#10;&#10;KI-generierte Inhalte können fehlerhaft sein.">
            <a:extLst>
              <a:ext uri="{FF2B5EF4-FFF2-40B4-BE49-F238E27FC236}">
                <a16:creationId xmlns:a16="http://schemas.microsoft.com/office/drawing/2014/main" id="{2A6D6E07-3BD0-78F9-860E-DE0730D670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1639" y="1612702"/>
            <a:ext cx="5594227" cy="727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71705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A3AD706-FB5F-9A86-2F22-F719A6DA9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Tank you for your attention!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E6CB1B-A41A-960A-127C-71B2066CF384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40992" y="2696135"/>
            <a:ext cx="6437205" cy="6265121"/>
          </a:xfrm>
        </p:spPr>
        <p:txBody>
          <a:bodyPr>
            <a:normAutofit/>
          </a:bodyPr>
          <a:lstStyle/>
          <a:p>
            <a:r>
              <a:rPr lang="en-US" dirty="0"/>
              <a:t>Do you have Questions?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Project available at </a:t>
            </a:r>
            <a:r>
              <a:rPr lang="en-US" dirty="0">
                <a:solidFill>
                  <a:srgbClr val="FE906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dirty="0">
              <a:solidFill>
                <a:srgbClr val="FE9061"/>
              </a:solidFill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8A9E75A-E336-F519-6ACD-66F8CCA96C7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538156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50B703B-F7B9-3F23-925F-4022BBCA0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[1] </a:t>
            </a:r>
            <a:r>
              <a:rPr lang="en-US" sz="2000" dirty="0">
                <a:hlinkClick r:id="rId2"/>
              </a:rPr>
              <a:t>Signac, Laurent. (2013). Lattice Gas Symmetric Cryptography</a:t>
            </a:r>
            <a:endParaRPr lang="en-US" sz="2000" dirty="0"/>
          </a:p>
          <a:p>
            <a:r>
              <a:rPr lang="en-US" sz="2000" dirty="0"/>
              <a:t>[2] </a:t>
            </a:r>
            <a:r>
              <a:rPr lang="en-US" sz="2000" dirty="0" err="1"/>
              <a:t>Molekulardynamik</a:t>
            </a:r>
            <a:r>
              <a:rPr lang="en-US" sz="2000" dirty="0"/>
              <a:t> und Lattice-Boltzmann </a:t>
            </a:r>
            <a:r>
              <a:rPr lang="en-US" sz="2000" dirty="0" err="1"/>
              <a:t>Methoden</a:t>
            </a:r>
            <a:r>
              <a:rPr lang="en-US" sz="2000" dirty="0"/>
              <a:t> – Dr. </a:t>
            </a:r>
            <a:r>
              <a:rPr lang="en-US" sz="2000" dirty="0" err="1"/>
              <a:t>Matrin</a:t>
            </a:r>
            <a:r>
              <a:rPr lang="en-US" sz="2000" dirty="0"/>
              <a:t> </a:t>
            </a:r>
            <a:r>
              <a:rPr lang="en-US" sz="2000" dirty="0" err="1"/>
              <a:t>Bernreuther</a:t>
            </a:r>
            <a:r>
              <a:rPr lang="en-US" sz="2000" dirty="0"/>
              <a:t>, Universität Stuttgart, SS 2005 </a:t>
            </a:r>
          </a:p>
          <a:p>
            <a:r>
              <a:rPr lang="en-US" sz="2000" dirty="0"/>
              <a:t>[3] </a:t>
            </a:r>
            <a:r>
              <a:rPr lang="en-US" sz="2000" dirty="0">
                <a:hlinkClick r:id="rId3"/>
              </a:rPr>
              <a:t>Wikipedia: Cellular automaton</a:t>
            </a:r>
            <a:endParaRPr lang="en-US" sz="200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F99AE8B-1282-1B90-1692-F3755F144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sources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B1BB090-A4CF-1807-8AA6-78B71A752E4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498743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6C08CC8-FFCC-3DE7-896D-0FFE31D7E06A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2C19264-8942-533E-C8E2-696B3BF09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6622310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262309-289C-6A48-A2A1-8FD01685794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21</a:t>
            </a:fld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D42828D-F1DE-B31D-D2F8-64710F6B5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Condition-Table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38710419-B3E6-5EF5-2666-F0CE4DCFC6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550466"/>
              </p:ext>
            </p:extLst>
          </p:nvPr>
        </p:nvGraphicFramePr>
        <p:xfrm>
          <a:off x="1306846" y="1711138"/>
          <a:ext cx="4048855" cy="7867642"/>
        </p:xfrm>
        <a:graphic>
          <a:graphicData uri="http://schemas.openxmlformats.org/drawingml/2006/table">
            <a:tbl>
              <a:tblPr/>
              <a:tblGrid>
                <a:gridCol w="1464175">
                  <a:extLst>
                    <a:ext uri="{9D8B030D-6E8A-4147-A177-3AD203B41FA5}">
                      <a16:colId xmlns:a16="http://schemas.microsoft.com/office/drawing/2014/main" val="2172144218"/>
                    </a:ext>
                  </a:extLst>
                </a:gridCol>
                <a:gridCol w="2584680">
                  <a:extLst>
                    <a:ext uri="{9D8B030D-6E8A-4147-A177-3AD203B41FA5}">
                      <a16:colId xmlns:a16="http://schemas.microsoft.com/office/drawing/2014/main" val="3446845119"/>
                    </a:ext>
                  </a:extLst>
                </a:gridCol>
              </a:tblGrid>
              <a:tr h="463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Low-Bit</a:t>
                      </a:r>
                      <a:endParaRPr lang="de-DE" sz="24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State</a:t>
                      </a:r>
                      <a:endParaRPr lang="de-DE" sz="24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3422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|0000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645795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|0001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West (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961728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|0010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South (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849420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|0011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 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339318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|0100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East (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166980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|0101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 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726212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|0110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 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039752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|0111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 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578116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|1000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North (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932907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|1001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particle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03514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|1010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particle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41557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|1011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466632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|1100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particle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701806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|1101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particle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549149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|1110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particle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595168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|1111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 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835241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9CD7B5B8-6C6F-BABC-C06F-7C29BC4C8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733018"/>
              </p:ext>
            </p:extLst>
          </p:nvPr>
        </p:nvGraphicFramePr>
        <p:xfrm>
          <a:off x="8246188" y="2295911"/>
          <a:ext cx="4048855" cy="1389114"/>
        </p:xfrm>
        <a:graphic>
          <a:graphicData uri="http://schemas.openxmlformats.org/drawingml/2006/table">
            <a:tbl>
              <a:tblPr/>
              <a:tblGrid>
                <a:gridCol w="1464175">
                  <a:extLst>
                    <a:ext uri="{9D8B030D-6E8A-4147-A177-3AD203B41FA5}">
                      <a16:colId xmlns:a16="http://schemas.microsoft.com/office/drawing/2014/main" val="2172144218"/>
                    </a:ext>
                  </a:extLst>
                </a:gridCol>
                <a:gridCol w="2584680">
                  <a:extLst>
                    <a:ext uri="{9D8B030D-6E8A-4147-A177-3AD203B41FA5}">
                      <a16:colId xmlns:a16="http://schemas.microsoft.com/office/drawing/2014/main" val="3446845119"/>
                    </a:ext>
                  </a:extLst>
                </a:gridCol>
              </a:tblGrid>
              <a:tr h="463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Low-Bit</a:t>
                      </a:r>
                      <a:endParaRPr lang="de-DE" sz="24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State</a:t>
                      </a:r>
                      <a:endParaRPr lang="de-DE" sz="24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3422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|0110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 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039752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|1010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41557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3F50C10E-3363-D024-1AA0-84D19058B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592027"/>
              </p:ext>
            </p:extLst>
          </p:nvPr>
        </p:nvGraphicFramePr>
        <p:xfrm>
          <a:off x="8246188" y="5121817"/>
          <a:ext cx="4048855" cy="2314618"/>
        </p:xfrm>
        <a:graphic>
          <a:graphicData uri="http://schemas.openxmlformats.org/drawingml/2006/table">
            <a:tbl>
              <a:tblPr/>
              <a:tblGrid>
                <a:gridCol w="1464175">
                  <a:extLst>
                    <a:ext uri="{9D8B030D-6E8A-4147-A177-3AD203B41FA5}">
                      <a16:colId xmlns:a16="http://schemas.microsoft.com/office/drawing/2014/main" val="2172144218"/>
                    </a:ext>
                  </a:extLst>
                </a:gridCol>
                <a:gridCol w="2584680">
                  <a:extLst>
                    <a:ext uri="{9D8B030D-6E8A-4147-A177-3AD203B41FA5}">
                      <a16:colId xmlns:a16="http://schemas.microsoft.com/office/drawing/2014/main" val="3446845119"/>
                    </a:ext>
                  </a:extLst>
                </a:gridCol>
              </a:tblGrid>
              <a:tr h="463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Low-Bit</a:t>
                      </a:r>
                      <a:endParaRPr lang="de-DE" sz="24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State</a:t>
                      </a:r>
                      <a:endParaRPr lang="de-DE" sz="24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3422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|0001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West (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961728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|0010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South (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849420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|0100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East (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166980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|1000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North (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932907"/>
                  </a:ext>
                </a:extLst>
              </a:tr>
            </a:tbl>
          </a:graphicData>
        </a:graphic>
      </p:graphicFrame>
      <p:sp>
        <p:nvSpPr>
          <p:cNvPr id="10" name="Textfeld 9">
            <a:extLst>
              <a:ext uri="{FF2B5EF4-FFF2-40B4-BE49-F238E27FC236}">
                <a16:creationId xmlns:a16="http://schemas.microsoft.com/office/drawing/2014/main" id="{33F38F7B-C3B3-DE28-970D-124BF09993AF}"/>
              </a:ext>
            </a:extLst>
          </p:cNvPr>
          <p:cNvSpPr txBox="1"/>
          <p:nvPr/>
        </p:nvSpPr>
        <p:spPr>
          <a:xfrm>
            <a:off x="7970523" y="4537044"/>
            <a:ext cx="404885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strike="noStrike" cap="none" spc="0" normalizeH="0" baseline="0" dirty="0">
                <a:ln>
                  <a:noFill/>
                </a:ln>
                <a:solidFill>
                  <a:srgbClr val="43B6C8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Reflection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1CD91FE-54C3-259C-DD0F-9FF83329C7BD}"/>
              </a:ext>
            </a:extLst>
          </p:cNvPr>
          <p:cNvSpPr txBox="1"/>
          <p:nvPr/>
        </p:nvSpPr>
        <p:spPr>
          <a:xfrm>
            <a:off x="7970523" y="1711138"/>
            <a:ext cx="404885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strike="noStrike" cap="none" spc="0" normalizeH="0" baseline="0" dirty="0">
                <a:ln>
                  <a:noFill/>
                </a:ln>
                <a:solidFill>
                  <a:srgbClr val="005FAB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Collision</a:t>
            </a:r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51CF3EEB-3EAE-481F-42AC-2D3F80CB5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73669"/>
              </p:ext>
            </p:extLst>
          </p:nvPr>
        </p:nvGraphicFramePr>
        <p:xfrm>
          <a:off x="1306846" y="1711138"/>
          <a:ext cx="5513030" cy="7867642"/>
        </p:xfrm>
        <a:graphic>
          <a:graphicData uri="http://schemas.openxmlformats.org/drawingml/2006/table">
            <a:tbl>
              <a:tblPr/>
              <a:tblGrid>
                <a:gridCol w="1464175">
                  <a:extLst>
                    <a:ext uri="{9D8B030D-6E8A-4147-A177-3AD203B41FA5}">
                      <a16:colId xmlns:a16="http://schemas.microsoft.com/office/drawing/2014/main" val="2172144218"/>
                    </a:ext>
                  </a:extLst>
                </a:gridCol>
                <a:gridCol w="1464175">
                  <a:extLst>
                    <a:ext uri="{9D8B030D-6E8A-4147-A177-3AD203B41FA5}">
                      <a16:colId xmlns:a16="http://schemas.microsoft.com/office/drawing/2014/main" val="117903974"/>
                    </a:ext>
                  </a:extLst>
                </a:gridCol>
                <a:gridCol w="2584680">
                  <a:extLst>
                    <a:ext uri="{9D8B030D-6E8A-4147-A177-3AD203B41FA5}">
                      <a16:colId xmlns:a16="http://schemas.microsoft.com/office/drawing/2014/main" val="3446845119"/>
                    </a:ext>
                  </a:extLst>
                </a:gridCol>
              </a:tblGrid>
              <a:tr h="463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Binary</a:t>
                      </a:r>
                      <a:endParaRPr lang="de-DE" sz="24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Integer</a:t>
                      </a:r>
                      <a:endParaRPr lang="de-DE" sz="24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State</a:t>
                      </a:r>
                      <a:endParaRPr lang="de-DE" sz="24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3422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0000|0000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645795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0000|0001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West (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961728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0000|0010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South (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849420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0000|0011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 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339318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0000|0100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East (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166980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0000|0101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 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726212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0000|0110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 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039752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0000|0111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 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578116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0000|1000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North (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932907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0000|1001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particle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03514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0000|1010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particle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41557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0000|1011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466632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0000|1100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particle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701806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0000|1101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particle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549149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0000|1110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de-DE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particle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595168"/>
                  </a:ext>
                </a:extLst>
              </a:tr>
              <a:tr h="46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0000|1111</a:t>
                      </a:r>
                      <a:endParaRPr lang="de-DE" sz="200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 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&amp;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de-DE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</a:t>
                      </a:r>
                      <a:r>
                        <a:rPr lang="de-DE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2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particle</a:t>
                      </a:r>
                      <a:endParaRPr lang="de-DE" sz="2000" dirty="0">
                        <a:effectLst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835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147374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332CE-C577-BCAD-A91D-E580A654E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335EDEA7-07F0-5343-ACF5-55846D03FAB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22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0543F3D-0FA5-1CDE-31C4-775DA5AE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Encryptor/ Decryptor Pseudo-Code</a:t>
            </a:r>
          </a:p>
        </p:txBody>
      </p:sp>
      <p:pic>
        <p:nvPicPr>
          <p:cNvPr id="19" name="Grafik 18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1F2BE7B5-F2B5-AECB-E5CC-DF40CD13A1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2879" y="2961919"/>
            <a:ext cx="8511171" cy="5266880"/>
          </a:xfrm>
          <a:prstGeom prst="rect">
            <a:avLst/>
          </a:prstGeom>
        </p:spPr>
      </p:pic>
      <p:pic>
        <p:nvPicPr>
          <p:cNvPr id="21" name="Grafik 20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D3CC84D5-A543-F4E2-E03C-338395FD35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52" y="2058201"/>
            <a:ext cx="8511171" cy="617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33812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D2E33-683D-BDBD-299D-9848B772D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oliennummernplatzhalter 36">
            <a:extLst>
              <a:ext uri="{FF2B5EF4-FFF2-40B4-BE49-F238E27FC236}">
                <a16:creationId xmlns:a16="http://schemas.microsoft.com/office/drawing/2014/main" id="{76885249-5C17-8789-7CD6-61E36ED14BE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23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AB1AD00-7040-B56F-90DE-823D017E3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HPP-Rules Pseudo-Code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81E674D7-0434-29E1-5E55-DE5F49F628E2}"/>
              </a:ext>
            </a:extLst>
          </p:cNvPr>
          <p:cNvSpPr txBox="1"/>
          <p:nvPr/>
        </p:nvSpPr>
        <p:spPr>
          <a:xfrm>
            <a:off x="262946" y="2413048"/>
            <a:ext cx="404885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strike="noStrike" cap="none" spc="0" normalizeH="0" baseline="0" dirty="0">
                <a:ln>
                  <a:noFill/>
                </a:ln>
                <a:solidFill>
                  <a:srgbClr val="0097B2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Propagation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8801816E-AD5D-9BB0-56D4-C950D0ED4318}"/>
              </a:ext>
            </a:extLst>
          </p:cNvPr>
          <p:cNvSpPr txBox="1"/>
          <p:nvPr/>
        </p:nvSpPr>
        <p:spPr>
          <a:xfrm>
            <a:off x="8882073" y="2413047"/>
            <a:ext cx="404885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strike="noStrike" cap="none" spc="0" normalizeH="0" baseline="0" dirty="0">
                <a:ln>
                  <a:noFill/>
                </a:ln>
                <a:solidFill>
                  <a:srgbClr val="0097B2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Inverse propagation</a:t>
            </a:r>
          </a:p>
        </p:txBody>
      </p:sp>
      <p:pic>
        <p:nvPicPr>
          <p:cNvPr id="30" name="Grafik 29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0E517122-CB5E-5F31-EB4F-C6DA431514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46" y="3014807"/>
            <a:ext cx="7772400" cy="4291357"/>
          </a:xfrm>
          <a:prstGeom prst="rect">
            <a:avLst/>
          </a:prstGeom>
        </p:spPr>
      </p:pic>
      <p:pic>
        <p:nvPicPr>
          <p:cNvPr id="36" name="Grafik 35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BC98AEC2-7140-DAEA-FF75-25918BF0A5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2073" y="2997820"/>
            <a:ext cx="7835681" cy="432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701737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88907-5701-9AC2-8678-6AEB18B17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4AC1859-8F88-B678-88FB-F4DE4B7DC13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24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76C8829-ACEE-680A-82B1-693CDBCB4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HPP-Rules Pseudo-Code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E8B3CF2-24D8-7B03-DCB8-795EC4601656}"/>
              </a:ext>
            </a:extLst>
          </p:cNvPr>
          <p:cNvSpPr txBox="1"/>
          <p:nvPr/>
        </p:nvSpPr>
        <p:spPr>
          <a:xfrm>
            <a:off x="262947" y="2245217"/>
            <a:ext cx="404885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strike="noStrike" cap="none" spc="0" normalizeH="0" baseline="0" dirty="0">
                <a:ln>
                  <a:noFill/>
                </a:ln>
                <a:solidFill>
                  <a:srgbClr val="43B6C8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Reflection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97EEDA0D-45FA-485C-3C34-DDFAECE12B20}"/>
              </a:ext>
            </a:extLst>
          </p:cNvPr>
          <p:cNvSpPr txBox="1"/>
          <p:nvPr/>
        </p:nvSpPr>
        <p:spPr>
          <a:xfrm>
            <a:off x="9199002" y="2245217"/>
            <a:ext cx="404885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strike="noStrike" cap="none" spc="0" normalizeH="0" baseline="0" dirty="0">
                <a:ln>
                  <a:noFill/>
                </a:ln>
                <a:solidFill>
                  <a:srgbClr val="005FAB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Collision</a:t>
            </a:r>
          </a:p>
        </p:txBody>
      </p:sp>
      <p:pic>
        <p:nvPicPr>
          <p:cNvPr id="4" name="Grafik 3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7F6CFB95-3CD4-4F6B-D25E-01D7E1B4E0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002" y="2829989"/>
            <a:ext cx="7772400" cy="3477889"/>
          </a:xfrm>
          <a:prstGeom prst="rect">
            <a:avLst/>
          </a:prstGeom>
        </p:spPr>
      </p:pic>
      <p:pic>
        <p:nvPicPr>
          <p:cNvPr id="6" name="Grafik 5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3638998F-C4CA-9311-6C1B-7F7571AC05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47" y="2829992"/>
            <a:ext cx="7772400" cy="462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740165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08D6B-D867-4244-9D4A-E80D3B045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51E811E-75E5-322A-9D95-FF8704F77B7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25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8B13E3E-35D3-01C4-98E8-5F57B2A85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HPP-Rules Implementation</a:t>
            </a:r>
          </a:p>
        </p:txBody>
      </p:sp>
      <p:pic>
        <p:nvPicPr>
          <p:cNvPr id="13" name="Grafik 12" descr="Ein Bild, das Grafiken, Symbol, Kreis, Logo enthält.&#10;&#10;KI-generierte Inhalte können fehlerhaft sein.">
            <a:extLst>
              <a:ext uri="{FF2B5EF4-FFF2-40B4-BE49-F238E27FC236}">
                <a16:creationId xmlns:a16="http://schemas.microsoft.com/office/drawing/2014/main" id="{9A5E39D8-7573-03F4-8125-AECAD9DC3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92" y="0"/>
            <a:ext cx="1252344" cy="1407863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635EC99E-26F4-D607-E0A2-59F25FB83F85}"/>
              </a:ext>
            </a:extLst>
          </p:cNvPr>
          <p:cNvSpPr txBox="1"/>
          <p:nvPr/>
        </p:nvSpPr>
        <p:spPr>
          <a:xfrm>
            <a:off x="100292" y="1739678"/>
            <a:ext cx="404885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strike="noStrike" cap="none" spc="0" normalizeH="0" baseline="0" dirty="0">
                <a:ln>
                  <a:noFill/>
                </a:ln>
                <a:solidFill>
                  <a:srgbClr val="0097B2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Propagation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48C3AE0F-D38D-090C-38EB-3A355B3EA358}"/>
              </a:ext>
            </a:extLst>
          </p:cNvPr>
          <p:cNvSpPr txBox="1"/>
          <p:nvPr/>
        </p:nvSpPr>
        <p:spPr>
          <a:xfrm>
            <a:off x="9197383" y="1739678"/>
            <a:ext cx="404885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strike="noStrike" cap="none" spc="0" normalizeH="0" baseline="0" dirty="0">
                <a:ln>
                  <a:noFill/>
                </a:ln>
                <a:solidFill>
                  <a:srgbClr val="0097B2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Inverse propagation</a:t>
            </a:r>
          </a:p>
        </p:txBody>
      </p:sp>
      <p:pic>
        <p:nvPicPr>
          <p:cNvPr id="4" name="Grafik 3" descr="Ein Bild, das Text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4EE21FC1-E64A-655F-DD06-27ABF60178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2065"/>
            <a:ext cx="8555091" cy="7538455"/>
          </a:xfrm>
          <a:prstGeom prst="rect">
            <a:avLst/>
          </a:prstGeom>
        </p:spPr>
      </p:pic>
      <p:pic>
        <p:nvPicPr>
          <p:cNvPr id="6" name="Grafik 5" descr="Ein Bild, das Text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5E068DA8-D946-E200-CFA5-3D6A752664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038338"/>
            <a:ext cx="8356600" cy="753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65033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2E4C6-CDCF-0D3D-FA71-9D443F661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260A36F-2AEF-F94D-F2CE-AA9D9D174C2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26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3825FAC-E8D5-91EC-9186-E9B221215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HPP-Rules Implementation</a:t>
            </a:r>
          </a:p>
        </p:txBody>
      </p:sp>
      <p:pic>
        <p:nvPicPr>
          <p:cNvPr id="13" name="Grafik 12" descr="Ein Bild, das Grafiken, Symbol, Kreis, Logo enthält.&#10;&#10;KI-generierte Inhalte können fehlerhaft sein.">
            <a:extLst>
              <a:ext uri="{FF2B5EF4-FFF2-40B4-BE49-F238E27FC236}">
                <a16:creationId xmlns:a16="http://schemas.microsoft.com/office/drawing/2014/main" id="{27AE28E6-CA9C-B550-8971-2C3DC284BB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92" y="0"/>
            <a:ext cx="1252344" cy="1407863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0474F1E1-80C8-67C1-7129-7B4914EC84A6}"/>
              </a:ext>
            </a:extLst>
          </p:cNvPr>
          <p:cNvSpPr txBox="1"/>
          <p:nvPr/>
        </p:nvSpPr>
        <p:spPr>
          <a:xfrm>
            <a:off x="100292" y="1743051"/>
            <a:ext cx="404885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strike="noStrike" cap="none" spc="0" normalizeH="0" baseline="0" dirty="0">
                <a:ln>
                  <a:noFill/>
                </a:ln>
                <a:solidFill>
                  <a:srgbClr val="43B6C8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Reflection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B13C1385-8D44-BCF9-4A35-38770B6641DA}"/>
              </a:ext>
            </a:extLst>
          </p:cNvPr>
          <p:cNvSpPr txBox="1"/>
          <p:nvPr/>
        </p:nvSpPr>
        <p:spPr>
          <a:xfrm>
            <a:off x="9180386" y="1743051"/>
            <a:ext cx="404885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strike="noStrike" cap="none" spc="0" normalizeH="0" baseline="0" dirty="0">
                <a:ln>
                  <a:noFill/>
                </a:ln>
                <a:solidFill>
                  <a:srgbClr val="005FAB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Collision</a:t>
            </a:r>
          </a:p>
        </p:txBody>
      </p:sp>
      <p:pic>
        <p:nvPicPr>
          <p:cNvPr id="6" name="Grafik 5" descr="Ein Bild, das Text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99B1EDB9-EC95-D3C4-4496-61F68A0FF6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92" y="2035437"/>
            <a:ext cx="8903343" cy="6014540"/>
          </a:xfrm>
          <a:prstGeom prst="rect">
            <a:avLst/>
          </a:prstGeom>
        </p:spPr>
      </p:pic>
      <p:pic>
        <p:nvPicPr>
          <p:cNvPr id="8" name="Grafik 7" descr="Ein Bild, das Text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8C334451-5188-CAC1-6F76-37DDDD8994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386" y="2035437"/>
            <a:ext cx="8903343" cy="552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567862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E403-497C-30A9-BBC1-091377152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DE7315-ED93-8832-947D-50E20CCEA2B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27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AC1923-A385-000E-7627-55D289BF3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HPP-Encryption/Decryption Implementation</a:t>
            </a:r>
          </a:p>
        </p:txBody>
      </p:sp>
      <p:pic>
        <p:nvPicPr>
          <p:cNvPr id="13" name="Grafik 12" descr="Ein Bild, das Grafiken, Symbol, Kreis, Logo enthält.&#10;&#10;KI-generierte Inhalte können fehlerhaft sein.">
            <a:extLst>
              <a:ext uri="{FF2B5EF4-FFF2-40B4-BE49-F238E27FC236}">
                <a16:creationId xmlns:a16="http://schemas.microsoft.com/office/drawing/2014/main" id="{133B7846-ECB7-39D0-132E-37EC2E1EE1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92" y="0"/>
            <a:ext cx="1252344" cy="1407863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0287C17A-2647-6381-63C1-B52B9186AFA3}"/>
              </a:ext>
            </a:extLst>
          </p:cNvPr>
          <p:cNvSpPr txBox="1"/>
          <p:nvPr/>
        </p:nvSpPr>
        <p:spPr>
          <a:xfrm>
            <a:off x="100292" y="1739680"/>
            <a:ext cx="404885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strike="noStrike" cap="none" spc="0" normalizeH="0" baseline="0" dirty="0">
                <a:ln>
                  <a:noFill/>
                </a:ln>
                <a:solidFill>
                  <a:srgbClr val="005FAB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Encryption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4CFD6D87-FCE8-34C0-5023-47600035C6EF}"/>
              </a:ext>
            </a:extLst>
          </p:cNvPr>
          <p:cNvSpPr txBox="1"/>
          <p:nvPr/>
        </p:nvSpPr>
        <p:spPr>
          <a:xfrm>
            <a:off x="9193841" y="1739680"/>
            <a:ext cx="404885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strike="noStrike" cap="none" spc="0" normalizeH="0" baseline="0" dirty="0">
                <a:ln>
                  <a:noFill/>
                </a:ln>
                <a:solidFill>
                  <a:srgbClr val="43B6C8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Decryption</a:t>
            </a:r>
          </a:p>
        </p:txBody>
      </p:sp>
      <p:pic>
        <p:nvPicPr>
          <p:cNvPr id="4" name="Grafik 3" descr="Ein Bild, das Text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013BB500-AFC0-C7D7-9DA5-85B575BCF4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2066"/>
            <a:ext cx="9043709" cy="5779052"/>
          </a:xfrm>
          <a:prstGeom prst="rect">
            <a:avLst/>
          </a:prstGeom>
        </p:spPr>
      </p:pic>
      <p:pic>
        <p:nvPicPr>
          <p:cNvPr id="6" name="Grafik 5" descr="Ein Bild, das Text, Screensho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BCDFDDFB-E756-4E99-DF2E-A6D96F2F1D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3841" y="2032066"/>
            <a:ext cx="9043709" cy="596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585694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29E1E3-7942-2919-0AE5-098F3A9F044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28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7795AE-03D1-F154-5199-EBC40A7B4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Scaling runtime</a:t>
            </a:r>
          </a:p>
        </p:txBody>
      </p:sp>
      <p:pic>
        <p:nvPicPr>
          <p:cNvPr id="5" name="Grafik 4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5657465B-0ACB-EC55-005F-83B3FF1DB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28" y="2022795"/>
            <a:ext cx="9766417" cy="732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72432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2467</Words>
  <Application>Microsoft Macintosh PowerPoint</Application>
  <PresentationFormat>Benutzerdefiniert</PresentationFormat>
  <Paragraphs>477</Paragraphs>
  <Slides>29</Slides>
  <Notes>25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29</vt:i4>
      </vt:variant>
    </vt:vector>
  </HeadingPairs>
  <TitlesOfParts>
    <vt:vector size="33" baseType="lpstr">
      <vt:lpstr>Arial</vt:lpstr>
      <vt:lpstr>Calibri</vt:lpstr>
      <vt:lpstr>Wingdings</vt:lpstr>
      <vt:lpstr>Office Theme</vt:lpstr>
      <vt:lpstr>HPP-Cellular Automata</vt:lpstr>
      <vt:lpstr>Table of Content </vt:lpstr>
      <vt:lpstr>Cellular-Automa Definition</vt:lpstr>
      <vt:lpstr>HPP-CA</vt:lpstr>
      <vt:lpstr>Datatype usage</vt:lpstr>
      <vt:lpstr>HPP-Rules</vt:lpstr>
      <vt:lpstr>Algorithm (sequential)</vt:lpstr>
      <vt:lpstr>Parallelization – What needs to happen?</vt:lpstr>
      <vt:lpstr>Parallelization – What needs to happen?</vt:lpstr>
      <vt:lpstr>Parallelization – How to approach it</vt:lpstr>
      <vt:lpstr>Parallelization – How to approach it</vt:lpstr>
      <vt:lpstr>Parallelization – How to approach it</vt:lpstr>
      <vt:lpstr>Parallelization structure (MPI+OMP)</vt:lpstr>
      <vt:lpstr>Parallelization - Tips &amp; Tricks</vt:lpstr>
      <vt:lpstr>Results</vt:lpstr>
      <vt:lpstr>Results - Best configurations</vt:lpstr>
      <vt:lpstr>Results - Scaling</vt:lpstr>
      <vt:lpstr>Example – Encrypted/ Decrypted</vt:lpstr>
      <vt:lpstr>Tank you for your attention!</vt:lpstr>
      <vt:lpstr>sources</vt:lpstr>
      <vt:lpstr>Appendix</vt:lpstr>
      <vt:lpstr>Condition-Table</vt:lpstr>
      <vt:lpstr>Encryptor/ Decryptor Pseudo-Code</vt:lpstr>
      <vt:lpstr>HPP-Rules Pseudo-Code</vt:lpstr>
      <vt:lpstr>HPP-Rules Pseudo-Code</vt:lpstr>
      <vt:lpstr>HPP-Rules Implementation</vt:lpstr>
      <vt:lpstr>HPP-Rules Implementation</vt:lpstr>
      <vt:lpstr>HPP-Encryption/Decryption Implementation</vt:lpstr>
      <vt:lpstr>Results – Scaling runtime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Sebastian Roth</cp:lastModifiedBy>
  <cp:revision>44</cp:revision>
  <dcterms:modified xsi:type="dcterms:W3CDTF">2025-08-20T20:05:16Z</dcterms:modified>
</cp:coreProperties>
</file>